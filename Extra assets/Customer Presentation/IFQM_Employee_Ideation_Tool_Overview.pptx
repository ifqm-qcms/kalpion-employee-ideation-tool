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147479743" r:id="rId2"/>
    <p:sldId id="257" r:id="rId3"/>
    <p:sldId id="258" r:id="rId4"/>
    <p:sldId id="2147479747" r:id="rId5"/>
    <p:sldId id="261" r:id="rId6"/>
    <p:sldId id="2147479745" r:id="rId7"/>
    <p:sldId id="263" r:id="rId8"/>
    <p:sldId id="2147479746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404" autoAdjust="0"/>
  </p:normalViewPr>
  <p:slideViewPr>
    <p:cSldViewPr snapToGrid="0" snapToObjects="1">
      <p:cViewPr varScale="1">
        <p:scale>
          <a:sx n="82" d="100"/>
          <a:sy n="82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18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1CC2-8BC2-6D97-4434-DCD78A075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F5661D-1D6C-C816-AEF5-ADE5435F2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212B5-8A1A-97E4-BD4B-5DECA3AD2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71B50-C33E-51B3-9DED-315F5B9CA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90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2D2E73-29A2-5FC2-A1A6-4D4E673AD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5542" y="1"/>
            <a:ext cx="8036458" cy="6857999"/>
          </a:xfrm>
          <a:prstGeom prst="rect">
            <a:avLst/>
          </a:prstGeom>
        </p:spPr>
      </p:pic>
      <p:sp>
        <p:nvSpPr>
          <p:cNvPr id="8" name="Parallelogram 7">
            <a:extLst>
              <a:ext uri="{FF2B5EF4-FFF2-40B4-BE49-F238E27FC236}">
                <a16:creationId xmlns:a16="http://schemas.microsoft.com/office/drawing/2014/main" id="{7C6E2B12-7603-E7BB-B378-5E399BF4BD50}"/>
              </a:ext>
            </a:extLst>
          </p:cNvPr>
          <p:cNvSpPr/>
          <p:nvPr userDrawn="1"/>
        </p:nvSpPr>
        <p:spPr>
          <a:xfrm>
            <a:off x="360237" y="-2"/>
            <a:ext cx="8024117" cy="6858000"/>
          </a:xfrm>
          <a:prstGeom prst="parallelogram">
            <a:avLst>
              <a:gd name="adj" fmla="val 32790"/>
            </a:avLst>
          </a:prstGeom>
          <a:gradFill>
            <a:gsLst>
              <a:gs pos="0">
                <a:srgbClr val="ED1C24">
                  <a:alpha val="20000"/>
                </a:srgbClr>
              </a:gs>
              <a:gs pos="48000">
                <a:srgbClr val="760E91">
                  <a:alpha val="20000"/>
                </a:srgbClr>
              </a:gs>
              <a:gs pos="99000">
                <a:srgbClr val="0000FF">
                  <a:alpha val="1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B058FC4-0333-A364-0CF8-03D05D772888}"/>
              </a:ext>
            </a:extLst>
          </p:cNvPr>
          <p:cNvSpPr/>
          <p:nvPr userDrawn="1"/>
        </p:nvSpPr>
        <p:spPr>
          <a:xfrm>
            <a:off x="162926" y="0"/>
            <a:ext cx="7921053" cy="6858000"/>
          </a:xfrm>
          <a:custGeom>
            <a:avLst/>
            <a:gdLst>
              <a:gd name="connsiteX0" fmla="*/ 2145674 w 7921053"/>
              <a:gd name="connsiteY0" fmla="*/ 0 h 6858000"/>
              <a:gd name="connsiteX1" fmla="*/ 7921053 w 7921053"/>
              <a:gd name="connsiteY1" fmla="*/ 0 h 6858000"/>
              <a:gd name="connsiteX2" fmla="*/ 5672315 w 7921053"/>
              <a:gd name="connsiteY2" fmla="*/ 6858000 h 6858000"/>
              <a:gd name="connsiteX3" fmla="*/ 0 w 7921053"/>
              <a:gd name="connsiteY3" fmla="*/ 6858000 h 6858000"/>
              <a:gd name="connsiteX4" fmla="*/ 0 w 7921053"/>
              <a:gd name="connsiteY4" fmla="*/ 6543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1053" h="6858000">
                <a:moveTo>
                  <a:pt x="2145674" y="0"/>
                </a:moveTo>
                <a:lnTo>
                  <a:pt x="7921053" y="0"/>
                </a:lnTo>
                <a:lnTo>
                  <a:pt x="5672315" y="6858000"/>
                </a:lnTo>
                <a:lnTo>
                  <a:pt x="0" y="6858000"/>
                </a:lnTo>
                <a:lnTo>
                  <a:pt x="0" y="6543685"/>
                </a:lnTo>
                <a:close/>
              </a:path>
            </a:pathLst>
          </a:custGeom>
          <a:gradFill>
            <a:gsLst>
              <a:gs pos="0">
                <a:srgbClr val="ED1C24">
                  <a:alpha val="40000"/>
                </a:srgbClr>
              </a:gs>
              <a:gs pos="48000">
                <a:srgbClr val="760E91">
                  <a:alpha val="40000"/>
                </a:srgbClr>
              </a:gs>
              <a:gs pos="98000">
                <a:srgbClr val="0000FF">
                  <a:alpha val="4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151ABDF-ADAF-2B66-22E2-90911570CAFB}"/>
              </a:ext>
            </a:extLst>
          </p:cNvPr>
          <p:cNvSpPr/>
          <p:nvPr userDrawn="1"/>
        </p:nvSpPr>
        <p:spPr>
          <a:xfrm>
            <a:off x="139124" y="0"/>
            <a:ext cx="7625529" cy="6858000"/>
          </a:xfrm>
          <a:custGeom>
            <a:avLst/>
            <a:gdLst>
              <a:gd name="connsiteX0" fmla="*/ 1850150 w 7625529"/>
              <a:gd name="connsiteY0" fmla="*/ 0 h 6858000"/>
              <a:gd name="connsiteX1" fmla="*/ 7625529 w 7625529"/>
              <a:gd name="connsiteY1" fmla="*/ 0 h 6858000"/>
              <a:gd name="connsiteX2" fmla="*/ 5376791 w 7625529"/>
              <a:gd name="connsiteY2" fmla="*/ 6858000 h 6858000"/>
              <a:gd name="connsiteX3" fmla="*/ 0 w 7625529"/>
              <a:gd name="connsiteY3" fmla="*/ 6858000 h 6858000"/>
              <a:gd name="connsiteX4" fmla="*/ 0 w 7625529"/>
              <a:gd name="connsiteY4" fmla="*/ 56424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25529" h="6858000">
                <a:moveTo>
                  <a:pt x="1850150" y="0"/>
                </a:moveTo>
                <a:lnTo>
                  <a:pt x="7625529" y="0"/>
                </a:lnTo>
                <a:lnTo>
                  <a:pt x="5376791" y="6858000"/>
                </a:lnTo>
                <a:lnTo>
                  <a:pt x="0" y="6858000"/>
                </a:lnTo>
                <a:lnTo>
                  <a:pt x="0" y="5642422"/>
                </a:lnTo>
                <a:close/>
              </a:path>
            </a:pathLst>
          </a:custGeom>
          <a:gradFill>
            <a:gsLst>
              <a:gs pos="0">
                <a:srgbClr val="ED1C24">
                  <a:alpha val="40000"/>
                </a:srgbClr>
              </a:gs>
              <a:gs pos="48000">
                <a:srgbClr val="760E91">
                  <a:alpha val="40000"/>
                </a:srgbClr>
              </a:gs>
              <a:gs pos="98000">
                <a:srgbClr val="0000FF">
                  <a:alpha val="40000"/>
                </a:srgbClr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24E2D24-0532-9CC5-B861-95FF8B2D1C7A}"/>
              </a:ext>
            </a:extLst>
          </p:cNvPr>
          <p:cNvSpPr/>
          <p:nvPr userDrawn="1"/>
        </p:nvSpPr>
        <p:spPr>
          <a:xfrm>
            <a:off x="50786" y="0"/>
            <a:ext cx="7330234" cy="6858000"/>
          </a:xfrm>
          <a:custGeom>
            <a:avLst/>
            <a:gdLst>
              <a:gd name="connsiteX0" fmla="*/ 1554855 w 7330234"/>
              <a:gd name="connsiteY0" fmla="*/ 0 h 6858000"/>
              <a:gd name="connsiteX1" fmla="*/ 7330234 w 7330234"/>
              <a:gd name="connsiteY1" fmla="*/ 0 h 6858000"/>
              <a:gd name="connsiteX2" fmla="*/ 5081496 w 7330234"/>
              <a:gd name="connsiteY2" fmla="*/ 6858000 h 6858000"/>
              <a:gd name="connsiteX3" fmla="*/ 0 w 7330234"/>
              <a:gd name="connsiteY3" fmla="*/ 6858000 h 6858000"/>
              <a:gd name="connsiteX4" fmla="*/ 0 w 7330234"/>
              <a:gd name="connsiteY4" fmla="*/ 47418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30234" h="6858000">
                <a:moveTo>
                  <a:pt x="1554855" y="0"/>
                </a:moveTo>
                <a:lnTo>
                  <a:pt x="7330234" y="0"/>
                </a:lnTo>
                <a:lnTo>
                  <a:pt x="5081496" y="6858000"/>
                </a:lnTo>
                <a:lnTo>
                  <a:pt x="0" y="6858000"/>
                </a:lnTo>
                <a:lnTo>
                  <a:pt x="0" y="4741858"/>
                </a:lnTo>
                <a:close/>
              </a:path>
            </a:pathLst>
          </a:custGeom>
          <a:gradFill>
            <a:gsLst>
              <a:gs pos="0">
                <a:srgbClr val="ED1C24"/>
              </a:gs>
              <a:gs pos="50000">
                <a:srgbClr val="760E91"/>
              </a:gs>
              <a:gs pos="100000">
                <a:srgbClr val="0000FF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62FF22-C313-B303-E0D2-57ABD2A48A9F}"/>
              </a:ext>
            </a:extLst>
          </p:cNvPr>
          <p:cNvSpPr/>
          <p:nvPr userDrawn="1"/>
        </p:nvSpPr>
        <p:spPr>
          <a:xfrm>
            <a:off x="4504" y="0"/>
            <a:ext cx="3532446" cy="6858000"/>
          </a:xfrm>
          <a:prstGeom prst="rect">
            <a:avLst/>
          </a:prstGeom>
          <a:gradFill>
            <a:gsLst>
              <a:gs pos="0">
                <a:srgbClr val="ED1C24"/>
              </a:gs>
              <a:gs pos="50000">
                <a:srgbClr val="760E91"/>
              </a:gs>
              <a:gs pos="100000">
                <a:srgbClr val="0000FF"/>
              </a:gs>
            </a:gsLst>
            <a:lin ang="5400000" scaled="1"/>
          </a:gradFill>
          <a:ln w="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E6824-4706-A7D6-B355-FD354647A284}"/>
              </a:ext>
            </a:extLst>
          </p:cNvPr>
          <p:cNvSpPr/>
          <p:nvPr userDrawn="1"/>
        </p:nvSpPr>
        <p:spPr>
          <a:xfrm>
            <a:off x="929930" y="4880901"/>
            <a:ext cx="1080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36F3A2D-F01D-9E3D-378D-6E4ED15E1A2E}"/>
              </a:ext>
            </a:extLst>
          </p:cNvPr>
          <p:cNvSpPr txBox="1">
            <a:spLocks/>
          </p:cNvSpPr>
          <p:nvPr userDrawn="1"/>
        </p:nvSpPr>
        <p:spPr>
          <a:xfrm>
            <a:off x="10066430" y="6208845"/>
            <a:ext cx="1818297" cy="322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Maven Pro" pitchFamily="2" charset="77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i="1" dirty="0">
                <a:latin typeface="Poppins" pitchFamily="2" charset="77"/>
                <a:cs typeface="Poppins" pitchFamily="2" charset="77"/>
              </a:rPr>
              <a:t>Redefining Quality</a:t>
            </a:r>
            <a:endParaRPr lang="en-US" sz="1400" b="0" i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3A1BD-73F1-10F9-4D3C-2D8E69C5FAE7}"/>
              </a:ext>
            </a:extLst>
          </p:cNvPr>
          <p:cNvSpPr/>
          <p:nvPr userDrawn="1"/>
        </p:nvSpPr>
        <p:spPr>
          <a:xfrm>
            <a:off x="8898091" y="6336156"/>
            <a:ext cx="1080000" cy="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72E1334-2947-4C29-C441-01C3510A562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282" y="940198"/>
            <a:ext cx="3786956" cy="5305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BAAA98-6028-E5B7-CF17-FF53AD2DD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588" y="2057400"/>
            <a:ext cx="4170612" cy="1842398"/>
          </a:xfrm>
        </p:spPr>
        <p:txBody>
          <a:bodyPr anchor="b">
            <a:normAutofit/>
          </a:bodyPr>
          <a:lstStyle>
            <a:lvl1pPr algn="l">
              <a:defRPr sz="3200" b="1" i="0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51BE6-1C3F-84EE-4F8C-BFC494774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588" y="3991874"/>
            <a:ext cx="4170612" cy="654534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0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FD1CC0-EFBF-AC81-DFD8-CF3B8CAC8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741" y="2251493"/>
            <a:ext cx="5891840" cy="1966823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Poppins" panose="00000500000000000000" pitchFamily="2" charset="0"/>
              </a:rPr>
              <a:t>Employee Ideation Tool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C99F08E-0D3C-9F18-D449-C51E1D325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741" y="3991874"/>
            <a:ext cx="5581289" cy="654534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E6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platform that turns everyday employee ideas into measurable improvement.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AA687A0-7385-F956-1622-0458626DFD41}"/>
              </a:ext>
            </a:extLst>
          </p:cNvPr>
          <p:cNvSpPr/>
          <p:nvPr/>
        </p:nvSpPr>
        <p:spPr>
          <a:xfrm>
            <a:off x="6616460" y="1311216"/>
            <a:ext cx="5255196" cy="4721917"/>
          </a:xfrm>
          <a:prstGeom prst="rect">
            <a:avLst/>
          </a:prstGeom>
          <a:noFill/>
          <a:ln>
            <a:solidFill>
              <a:srgbClr val="16224E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Why Employee Ideation?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57200" y="1143000"/>
            <a:ext cx="5989320" cy="4892040"/>
          </a:xfrm>
          <a:prstGeom prst="roundRect">
            <a:avLst>
              <a:gd name="adj" fmla="val 1869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777240" y="13990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DOING THIS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77240" y="176479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6000"/>
              </a:lnSpc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closest to the work see the waste first</a:t>
            </a:r>
            <a:r>
              <a:rPr lang="en-US" sz="1450" dirty="0">
                <a:solidFill>
                  <a:srgbClr val="C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jig that slips, a rework loop, a delivery that always runs late. Most of it is never written down, and what is written down goes into a suggestion box nobody empties.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77240" y="3355848"/>
            <a:ext cx="5349240" cy="0"/>
          </a:xfrm>
          <a:prstGeom prst="line">
            <a:avLst/>
          </a:prstGeom>
          <a:noFill/>
          <a:ln w="12700">
            <a:solidFill>
              <a:srgbClr val="3240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777240" y="352044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idea captured in one place, routed to the person who can decide, and tracked through to what it actually saved.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4343400"/>
            <a:ext cx="5349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6000"/>
              </a:lnSpc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— </a:t>
            </a:r>
            <a:r>
              <a:rPr lang="en-US" sz="1350" dirty="0">
                <a:solidFill>
                  <a:srgbClr val="CF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employee a way to raise an improvement, every manager a queue they can act on, and every plant a record of what was implemented and what it was worth.</a:t>
            </a:r>
            <a:endParaRPr lang="en-US" sz="135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6B8AFCB4-0260-2FA0-B369-D550D287D34D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3" name="Text 11">
            <a:extLst>
              <a:ext uri="{FF2B5EF4-FFF2-40B4-BE49-F238E27FC236}">
                <a16:creationId xmlns:a16="http://schemas.microsoft.com/office/drawing/2014/main" id="{80A923A0-2268-6312-F5B2-3BD33D618329}"/>
              </a:ext>
            </a:extLst>
          </p:cNvPr>
          <p:cNvSpPr/>
          <p:nvPr/>
        </p:nvSpPr>
        <p:spPr>
          <a:xfrm>
            <a:off x="6543568" y="981249"/>
            <a:ext cx="4892040" cy="30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WITH THE PLATFORM</a:t>
            </a:r>
            <a:endParaRPr lang="en-US" sz="1200" dirty="0"/>
          </a:p>
        </p:txBody>
      </p:sp>
      <p:sp>
        <p:nvSpPr>
          <p:cNvPr id="95" name="Text 12">
            <a:extLst>
              <a:ext uri="{FF2B5EF4-FFF2-40B4-BE49-F238E27FC236}">
                <a16:creationId xmlns:a16="http://schemas.microsoft.com/office/drawing/2014/main" id="{05E92E7D-91ED-0681-C75D-34563061C5F2}"/>
              </a:ext>
            </a:extLst>
          </p:cNvPr>
          <p:cNvSpPr/>
          <p:nvPr/>
        </p:nvSpPr>
        <p:spPr>
          <a:xfrm>
            <a:off x="6812280" y="1477715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TODAY</a:t>
            </a:r>
            <a:endParaRPr lang="en-US" sz="1000" dirty="0"/>
          </a:p>
        </p:txBody>
      </p:sp>
      <p:sp>
        <p:nvSpPr>
          <p:cNvPr id="97" name="Text 13">
            <a:extLst>
              <a:ext uri="{FF2B5EF4-FFF2-40B4-BE49-F238E27FC236}">
                <a16:creationId xmlns:a16="http://schemas.microsoft.com/office/drawing/2014/main" id="{AA61C0B4-E7DE-B85F-110A-246DDC73EEB0}"/>
              </a:ext>
            </a:extLst>
          </p:cNvPr>
          <p:cNvSpPr/>
          <p:nvPr/>
        </p:nvSpPr>
        <p:spPr>
          <a:xfrm>
            <a:off x="9509760" y="1477715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PLATFORM</a:t>
            </a:r>
            <a:endParaRPr lang="en-US" sz="1000" dirty="0"/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B41E945F-C878-43D6-376F-0B0473917178}"/>
              </a:ext>
            </a:extLst>
          </p:cNvPr>
          <p:cNvSpPr/>
          <p:nvPr/>
        </p:nvSpPr>
        <p:spPr>
          <a:xfrm>
            <a:off x="6812280" y="1797755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595BCFCF-8253-A8CE-8C8A-9163D97BF260}"/>
              </a:ext>
            </a:extLst>
          </p:cNvPr>
          <p:cNvSpPr/>
          <p:nvPr/>
        </p:nvSpPr>
        <p:spPr>
          <a:xfrm>
            <a:off x="6940296" y="1797755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3782AF7F-DFD7-D8CE-FA4E-8BF6618C3F74}"/>
              </a:ext>
            </a:extLst>
          </p:cNvPr>
          <p:cNvSpPr/>
          <p:nvPr/>
        </p:nvSpPr>
        <p:spPr>
          <a:xfrm>
            <a:off x="7269480" y="1797755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lost in a suggestion box</a:t>
            </a:r>
            <a:endParaRPr lang="en-US" sz="125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4D66A3E-06B8-D385-74FE-04718F078A7D}"/>
              </a:ext>
            </a:extLst>
          </p:cNvPr>
          <p:cNvSpPr/>
          <p:nvPr/>
        </p:nvSpPr>
        <p:spPr>
          <a:xfrm>
            <a:off x="9006840" y="1797755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7" name="Shape 18">
            <a:extLst>
              <a:ext uri="{FF2B5EF4-FFF2-40B4-BE49-F238E27FC236}">
                <a16:creationId xmlns:a16="http://schemas.microsoft.com/office/drawing/2014/main" id="{67F17E81-A113-7A6D-0FE0-D36736321607}"/>
              </a:ext>
            </a:extLst>
          </p:cNvPr>
          <p:cNvSpPr/>
          <p:nvPr/>
        </p:nvSpPr>
        <p:spPr>
          <a:xfrm>
            <a:off x="9509760" y="1797755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88208F3F-8961-A88E-D49A-973D36F20AEE}"/>
              </a:ext>
            </a:extLst>
          </p:cNvPr>
          <p:cNvSpPr/>
          <p:nvPr/>
        </p:nvSpPr>
        <p:spPr>
          <a:xfrm>
            <a:off x="9637776" y="1797755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Text 20">
            <a:extLst>
              <a:ext uri="{FF2B5EF4-FFF2-40B4-BE49-F238E27FC236}">
                <a16:creationId xmlns:a16="http://schemas.microsoft.com/office/drawing/2014/main" id="{70CBA0E9-1E6A-1127-AC0C-57B1BD99D120}"/>
              </a:ext>
            </a:extLst>
          </p:cNvPr>
          <p:cNvSpPr/>
          <p:nvPr/>
        </p:nvSpPr>
        <p:spPr>
          <a:xfrm>
            <a:off x="9966960" y="1797755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place, tracked end to end</a:t>
            </a:r>
            <a:endParaRPr lang="en-US" sz="1250" dirty="0"/>
          </a:p>
        </p:txBody>
      </p:sp>
      <p:sp>
        <p:nvSpPr>
          <p:cNvPr id="113" name="Shape 21">
            <a:extLst>
              <a:ext uri="{FF2B5EF4-FFF2-40B4-BE49-F238E27FC236}">
                <a16:creationId xmlns:a16="http://schemas.microsoft.com/office/drawing/2014/main" id="{48C3BC1B-5225-941C-3888-C9A63FB484F5}"/>
              </a:ext>
            </a:extLst>
          </p:cNvPr>
          <p:cNvSpPr/>
          <p:nvPr/>
        </p:nvSpPr>
        <p:spPr>
          <a:xfrm>
            <a:off x="6812280" y="2821883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78888A79-C37B-2D6C-8BE2-34202DBA69C7}"/>
              </a:ext>
            </a:extLst>
          </p:cNvPr>
          <p:cNvSpPr/>
          <p:nvPr/>
        </p:nvSpPr>
        <p:spPr>
          <a:xfrm>
            <a:off x="6940296" y="2821883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17" name="Text 23">
            <a:extLst>
              <a:ext uri="{FF2B5EF4-FFF2-40B4-BE49-F238E27FC236}">
                <a16:creationId xmlns:a16="http://schemas.microsoft.com/office/drawing/2014/main" id="{69E44386-B2A3-50E9-C0EA-372494C372D4}"/>
              </a:ext>
            </a:extLst>
          </p:cNvPr>
          <p:cNvSpPr/>
          <p:nvPr/>
        </p:nvSpPr>
        <p:spPr>
          <a:xfrm>
            <a:off x="7269480" y="2821883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should approve</a:t>
            </a:r>
            <a:endParaRPr lang="en-US" sz="1250" dirty="0"/>
          </a:p>
        </p:txBody>
      </p:sp>
      <p:sp>
        <p:nvSpPr>
          <p:cNvPr id="119" name="Text 24">
            <a:extLst>
              <a:ext uri="{FF2B5EF4-FFF2-40B4-BE49-F238E27FC236}">
                <a16:creationId xmlns:a16="http://schemas.microsoft.com/office/drawing/2014/main" id="{D550D36F-D5F2-EB3C-50BB-8BE7347317D6}"/>
              </a:ext>
            </a:extLst>
          </p:cNvPr>
          <p:cNvSpPr/>
          <p:nvPr/>
        </p:nvSpPr>
        <p:spPr>
          <a:xfrm>
            <a:off x="9006840" y="2821883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1" name="Shape 25">
            <a:extLst>
              <a:ext uri="{FF2B5EF4-FFF2-40B4-BE49-F238E27FC236}">
                <a16:creationId xmlns:a16="http://schemas.microsoft.com/office/drawing/2014/main" id="{EC753399-B007-5365-68AF-0EC9D0658BE3}"/>
              </a:ext>
            </a:extLst>
          </p:cNvPr>
          <p:cNvSpPr/>
          <p:nvPr/>
        </p:nvSpPr>
        <p:spPr>
          <a:xfrm>
            <a:off x="9509760" y="2821883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26">
            <a:extLst>
              <a:ext uri="{FF2B5EF4-FFF2-40B4-BE49-F238E27FC236}">
                <a16:creationId xmlns:a16="http://schemas.microsoft.com/office/drawing/2014/main" id="{B762E081-95FA-FA05-0D35-33DC485F063B}"/>
              </a:ext>
            </a:extLst>
          </p:cNvPr>
          <p:cNvSpPr/>
          <p:nvPr/>
        </p:nvSpPr>
        <p:spPr>
          <a:xfrm>
            <a:off x="9637776" y="2821883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Text 27">
            <a:extLst>
              <a:ext uri="{FF2B5EF4-FFF2-40B4-BE49-F238E27FC236}">
                <a16:creationId xmlns:a16="http://schemas.microsoft.com/office/drawing/2014/main" id="{14D3A295-8AD4-4A80-1A36-F02877D6C05F}"/>
              </a:ext>
            </a:extLst>
          </p:cNvPr>
          <p:cNvSpPr/>
          <p:nvPr/>
        </p:nvSpPr>
        <p:spPr>
          <a:xfrm>
            <a:off x="9966960" y="2821883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named, ordered approval chain</a:t>
            </a:r>
            <a:endParaRPr lang="en-US" sz="1250" dirty="0"/>
          </a:p>
        </p:txBody>
      </p:sp>
      <p:sp>
        <p:nvSpPr>
          <p:cNvPr id="127" name="Shape 28">
            <a:extLst>
              <a:ext uri="{FF2B5EF4-FFF2-40B4-BE49-F238E27FC236}">
                <a16:creationId xmlns:a16="http://schemas.microsoft.com/office/drawing/2014/main" id="{027BF52E-11D5-F69A-9BAF-25BFC4E8ABAB}"/>
              </a:ext>
            </a:extLst>
          </p:cNvPr>
          <p:cNvSpPr/>
          <p:nvPr/>
        </p:nvSpPr>
        <p:spPr>
          <a:xfrm>
            <a:off x="6812280" y="38460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29">
            <a:extLst>
              <a:ext uri="{FF2B5EF4-FFF2-40B4-BE49-F238E27FC236}">
                <a16:creationId xmlns:a16="http://schemas.microsoft.com/office/drawing/2014/main" id="{8BFB1B8E-A9E6-DC88-7AB5-88A325AA12EC}"/>
              </a:ext>
            </a:extLst>
          </p:cNvPr>
          <p:cNvSpPr/>
          <p:nvPr/>
        </p:nvSpPr>
        <p:spPr>
          <a:xfrm>
            <a:off x="6940296" y="3846011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31" name="Text 30">
            <a:extLst>
              <a:ext uri="{FF2B5EF4-FFF2-40B4-BE49-F238E27FC236}">
                <a16:creationId xmlns:a16="http://schemas.microsoft.com/office/drawing/2014/main" id="{EC88C50C-7E1F-2C68-D442-00A26242D3FE}"/>
              </a:ext>
            </a:extLst>
          </p:cNvPr>
          <p:cNvSpPr/>
          <p:nvPr/>
        </p:nvSpPr>
        <p:spPr>
          <a:xfrm>
            <a:off x="7269480" y="3846011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never hears back</a:t>
            </a:r>
            <a:endParaRPr lang="en-US" sz="1250" dirty="0"/>
          </a:p>
        </p:txBody>
      </p:sp>
      <p:sp>
        <p:nvSpPr>
          <p:cNvPr id="133" name="Text 31">
            <a:extLst>
              <a:ext uri="{FF2B5EF4-FFF2-40B4-BE49-F238E27FC236}">
                <a16:creationId xmlns:a16="http://schemas.microsoft.com/office/drawing/2014/main" id="{894F30AE-AD3D-4C57-52C4-D367EBD14C37}"/>
              </a:ext>
            </a:extLst>
          </p:cNvPr>
          <p:cNvSpPr/>
          <p:nvPr/>
        </p:nvSpPr>
        <p:spPr>
          <a:xfrm>
            <a:off x="9006840" y="3846011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5" name="Shape 32">
            <a:extLst>
              <a:ext uri="{FF2B5EF4-FFF2-40B4-BE49-F238E27FC236}">
                <a16:creationId xmlns:a16="http://schemas.microsoft.com/office/drawing/2014/main" id="{627CE3F0-2CBF-3A41-4D25-8BA0D3C4B788}"/>
              </a:ext>
            </a:extLst>
          </p:cNvPr>
          <p:cNvSpPr/>
          <p:nvPr/>
        </p:nvSpPr>
        <p:spPr>
          <a:xfrm>
            <a:off x="9509760" y="3846011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Text 33">
            <a:extLst>
              <a:ext uri="{FF2B5EF4-FFF2-40B4-BE49-F238E27FC236}">
                <a16:creationId xmlns:a16="http://schemas.microsoft.com/office/drawing/2014/main" id="{74BC8ECE-2305-30DC-F806-26B3626BAE3F}"/>
              </a:ext>
            </a:extLst>
          </p:cNvPr>
          <p:cNvSpPr/>
          <p:nvPr/>
        </p:nvSpPr>
        <p:spPr>
          <a:xfrm>
            <a:off x="9637776" y="3846011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9" name="Text 34">
            <a:extLst>
              <a:ext uri="{FF2B5EF4-FFF2-40B4-BE49-F238E27FC236}">
                <a16:creationId xmlns:a16="http://schemas.microsoft.com/office/drawing/2014/main" id="{2EC2AD1C-A666-9CA8-80E4-206C3B15BBC5}"/>
              </a:ext>
            </a:extLst>
          </p:cNvPr>
          <p:cNvSpPr/>
          <p:nvPr/>
        </p:nvSpPr>
        <p:spPr>
          <a:xfrm>
            <a:off x="9966960" y="3846011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comments and points</a:t>
            </a:r>
            <a:endParaRPr lang="en-US" sz="1250" dirty="0"/>
          </a:p>
        </p:txBody>
      </p:sp>
      <p:sp>
        <p:nvSpPr>
          <p:cNvPr id="141" name="Shape 35">
            <a:extLst>
              <a:ext uri="{FF2B5EF4-FFF2-40B4-BE49-F238E27FC236}">
                <a16:creationId xmlns:a16="http://schemas.microsoft.com/office/drawing/2014/main" id="{42FAB27C-1798-D5E9-7CAB-9B0AEB84C39A}"/>
              </a:ext>
            </a:extLst>
          </p:cNvPr>
          <p:cNvSpPr/>
          <p:nvPr/>
        </p:nvSpPr>
        <p:spPr>
          <a:xfrm>
            <a:off x="6812280" y="487013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F1C9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3" name="Text 36">
            <a:extLst>
              <a:ext uri="{FF2B5EF4-FFF2-40B4-BE49-F238E27FC236}">
                <a16:creationId xmlns:a16="http://schemas.microsoft.com/office/drawing/2014/main" id="{DBB45D76-2CB8-7EA1-1A27-8A1D3FE0EB23}"/>
              </a:ext>
            </a:extLst>
          </p:cNvPr>
          <p:cNvSpPr/>
          <p:nvPr/>
        </p:nvSpPr>
        <p:spPr>
          <a:xfrm>
            <a:off x="6940296" y="4870139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5" name="Text 37">
            <a:extLst>
              <a:ext uri="{FF2B5EF4-FFF2-40B4-BE49-F238E27FC236}">
                <a16:creationId xmlns:a16="http://schemas.microsoft.com/office/drawing/2014/main" id="{B8EE3730-0071-4D8B-37C0-A7D88DB865B0}"/>
              </a:ext>
            </a:extLst>
          </p:cNvPr>
          <p:cNvSpPr/>
          <p:nvPr/>
        </p:nvSpPr>
        <p:spPr>
          <a:xfrm>
            <a:off x="7269480" y="4870139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7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are never measured</a:t>
            </a:r>
            <a:endParaRPr lang="en-US" sz="1250" dirty="0"/>
          </a:p>
        </p:txBody>
      </p:sp>
      <p:sp>
        <p:nvSpPr>
          <p:cNvPr id="147" name="Text 38">
            <a:extLst>
              <a:ext uri="{FF2B5EF4-FFF2-40B4-BE49-F238E27FC236}">
                <a16:creationId xmlns:a16="http://schemas.microsoft.com/office/drawing/2014/main" id="{67716F93-4CB7-F919-B60A-B3D120E84CF5}"/>
              </a:ext>
            </a:extLst>
          </p:cNvPr>
          <p:cNvSpPr/>
          <p:nvPr/>
        </p:nvSpPr>
        <p:spPr>
          <a:xfrm>
            <a:off x="9006840" y="4870139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9" name="Shape 39">
            <a:extLst>
              <a:ext uri="{FF2B5EF4-FFF2-40B4-BE49-F238E27FC236}">
                <a16:creationId xmlns:a16="http://schemas.microsoft.com/office/drawing/2014/main" id="{B9FB409D-13DC-2F17-3746-11FB8C7A143D}"/>
              </a:ext>
            </a:extLst>
          </p:cNvPr>
          <p:cNvSpPr/>
          <p:nvPr/>
        </p:nvSpPr>
        <p:spPr>
          <a:xfrm>
            <a:off x="9509760" y="4870139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 w="12700">
            <a:solidFill>
              <a:srgbClr val="BF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40">
            <a:extLst>
              <a:ext uri="{FF2B5EF4-FFF2-40B4-BE49-F238E27FC236}">
                <a16:creationId xmlns:a16="http://schemas.microsoft.com/office/drawing/2014/main" id="{239ED35D-AC16-F420-FEDD-A1AAD28C7180}"/>
              </a:ext>
            </a:extLst>
          </p:cNvPr>
          <p:cNvSpPr/>
          <p:nvPr/>
        </p:nvSpPr>
        <p:spPr>
          <a:xfrm>
            <a:off x="9637776" y="4870139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3" name="Text 41">
            <a:extLst>
              <a:ext uri="{FF2B5EF4-FFF2-40B4-BE49-F238E27FC236}">
                <a16:creationId xmlns:a16="http://schemas.microsoft.com/office/drawing/2014/main" id="{9AABC8EE-FF08-6A13-B6B3-1A81717995CF}"/>
              </a:ext>
            </a:extLst>
          </p:cNvPr>
          <p:cNvSpPr/>
          <p:nvPr/>
        </p:nvSpPr>
        <p:spPr>
          <a:xfrm>
            <a:off x="9966960" y="4870139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recorded on every idea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What is the Employee Ideation Tool?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114300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713232" y="1344168"/>
            <a:ext cx="566928" cy="566928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1491569"/>
            <a:ext cx="272125" cy="27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81328" y="123444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where employees raise improvement ideas and somebody actually decides on them.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Ideas move up a named approval chain, and approved ones are pushed to the QC tool and tracked to implementation — with the benefit recorded.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731520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B6CB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0"/>
          <p:cNvSpPr/>
          <p:nvPr/>
        </p:nvSpPr>
        <p:spPr>
          <a:xfrm>
            <a:off x="1600200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749808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describes the problem, the proposed solution and the expected benefit, and attaches evidence.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279392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4553712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58B8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4"/>
          <p:cNvSpPr/>
          <p:nvPr/>
        </p:nvSpPr>
        <p:spPr>
          <a:xfrm>
            <a:off x="5422392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4572000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is scored, discussed and moved up the chain until somebody with the authority decides.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101584" y="2377440"/>
            <a:ext cx="36027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7"/>
          <p:cNvSpPr/>
          <p:nvPr/>
        </p:nvSpPr>
        <p:spPr>
          <a:xfrm>
            <a:off x="8375904" y="265176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838" y="2812694"/>
            <a:ext cx="409651" cy="4096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44584" y="2706624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900" dirty="0"/>
          </a:p>
        </p:txBody>
      </p:sp>
      <p:sp>
        <p:nvSpPr>
          <p:cNvPr id="27" name="Text 19"/>
          <p:cNvSpPr/>
          <p:nvPr/>
        </p:nvSpPr>
        <p:spPr>
          <a:xfrm>
            <a:off x="8394192" y="3474720"/>
            <a:ext cx="30358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ideas go to the QC tool as tracked work, and their ROI is recorded against the original idea.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57200" y="4617720"/>
            <a:ext cx="7086600" cy="1417320"/>
          </a:xfrm>
          <a:prstGeom prst="roundRect">
            <a:avLst>
              <a:gd name="adj" fmla="val 6452"/>
            </a:avLst>
          </a:prstGeom>
          <a:solidFill>
            <a:srgbClr val="F1F4FA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685800" y="476402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85800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submits an idea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2185416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2441448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and reviewed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941064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4197096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up the chain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696712" y="5148072"/>
            <a:ext cx="256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5952744" y="5148072"/>
            <a:ext cx="15179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measured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7772400" y="46177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622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0"/>
          <p:cNvSpPr/>
          <p:nvPr/>
        </p:nvSpPr>
        <p:spPr>
          <a:xfrm>
            <a:off x="8001000" y="47640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OUT OF THE BOX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001000" y="5074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every screen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8001000" y="5532120"/>
            <a:ext cx="38085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Draft to Implemented</a:t>
            </a:r>
            <a:endParaRPr lang="en-US" sz="1600" dirty="0"/>
          </a:p>
        </p:txBody>
      </p:sp>
      <p:pic>
        <p:nvPicPr>
          <p:cNvPr id="42" name="Graphic 41" descr="Meeting with solid fill">
            <a:extLst>
              <a:ext uri="{FF2B5EF4-FFF2-40B4-BE49-F238E27FC236}">
                <a16:creationId xmlns:a16="http://schemas.microsoft.com/office/drawing/2014/main" id="{E42588B1-E826-6616-4BF2-B0D9B7F51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43" y="2742593"/>
            <a:ext cx="544068" cy="544068"/>
          </a:xfrm>
          <a:prstGeom prst="rect">
            <a:avLst/>
          </a:prstGeom>
        </p:spPr>
      </p:pic>
      <p:pic>
        <p:nvPicPr>
          <p:cNvPr id="44" name="Graphic 43" descr="Management with solid fill">
            <a:extLst>
              <a:ext uri="{FF2B5EF4-FFF2-40B4-BE49-F238E27FC236}">
                <a16:creationId xmlns:a16="http://schemas.microsoft.com/office/drawing/2014/main" id="{3B3CDE5F-0641-F25B-68CC-CAA1CDAFD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7381" y="2708175"/>
            <a:ext cx="601434" cy="6014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AB9E7-D0C2-9EB7-80A2-85C1C462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C1F839A-69C8-E3CB-D9E5-89A2D6F17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08CC2424-3C8D-0E97-E397-A9EB283EE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60B0C87D-11E1-3FBB-D160-343B06E4A3EC}"/>
              </a:ext>
            </a:extLst>
          </p:cNvPr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290ED510-783D-3532-F968-CE84BE8A5E76}"/>
              </a:ext>
            </a:extLst>
          </p:cNvPr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130C8B1-B13E-251F-A12B-52E581C0987A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D0AE63B-9CCD-4643-5065-F55961299D44}"/>
              </a:ext>
            </a:extLst>
          </p:cNvPr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B530B5E-0BDC-3A24-BF63-A8E96CF5A58C}"/>
              </a:ext>
            </a:extLst>
          </p:cNvPr>
          <p:cNvSpPr/>
          <p:nvPr/>
        </p:nvSpPr>
        <p:spPr>
          <a:xfrm>
            <a:off x="365760" y="132158"/>
            <a:ext cx="11460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Role-Wise Flow, Data Entry and Reports</a:t>
            </a:r>
            <a:endParaRPr lang="en-US" sz="24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E64FB28-2194-D410-98EE-1C14AA39BC87}"/>
              </a:ext>
            </a:extLst>
          </p:cNvPr>
          <p:cNvSpPr/>
          <p:nvPr/>
        </p:nvSpPr>
        <p:spPr>
          <a:xfrm>
            <a:off x="365760" y="506546"/>
            <a:ext cx="11460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user levels, what each one does, and how information moves between them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FB71D8F-C1F6-5820-4E18-BA9D24EF432D}"/>
              </a:ext>
            </a:extLst>
          </p:cNvPr>
          <p:cNvSpPr/>
          <p:nvPr/>
        </p:nvSpPr>
        <p:spPr>
          <a:xfrm>
            <a:off x="365760" y="868680"/>
            <a:ext cx="201168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232257E-77E0-3ACE-4FD1-98CCD99F842E}"/>
              </a:ext>
            </a:extLst>
          </p:cNvPr>
          <p:cNvSpPr/>
          <p:nvPr/>
        </p:nvSpPr>
        <p:spPr>
          <a:xfrm>
            <a:off x="365760" y="868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1FFC505-42FC-5BD1-F7EF-8C6446C0B92F}"/>
              </a:ext>
            </a:extLst>
          </p:cNvPr>
          <p:cNvSpPr/>
          <p:nvPr/>
        </p:nvSpPr>
        <p:spPr>
          <a:xfrm>
            <a:off x="2377440" y="868680"/>
            <a:ext cx="489204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27BBF4E-EFBE-A9FB-88A7-70AD629F8660}"/>
              </a:ext>
            </a:extLst>
          </p:cNvPr>
          <p:cNvSpPr/>
          <p:nvPr/>
        </p:nvSpPr>
        <p:spPr>
          <a:xfrm>
            <a:off x="2377440" y="868680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</a:t>
            </a:r>
            <a:endParaRPr lang="en-US" sz="13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F22E46CF-0C1D-A335-CF68-61247CFE13EB}"/>
              </a:ext>
            </a:extLst>
          </p:cNvPr>
          <p:cNvSpPr/>
          <p:nvPr/>
        </p:nvSpPr>
        <p:spPr>
          <a:xfrm>
            <a:off x="7269480" y="868680"/>
            <a:ext cx="2331720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B8B9D34-E9D4-CD55-6BAA-40EAA74D9997}"/>
              </a:ext>
            </a:extLst>
          </p:cNvPr>
          <p:cNvSpPr/>
          <p:nvPr/>
        </p:nvSpPr>
        <p:spPr>
          <a:xfrm>
            <a:off x="7269480" y="868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3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CCD0B285-1A6A-91F9-AADE-1E0639495CFD}"/>
              </a:ext>
            </a:extLst>
          </p:cNvPr>
          <p:cNvSpPr/>
          <p:nvPr/>
        </p:nvSpPr>
        <p:spPr>
          <a:xfrm>
            <a:off x="9601200" y="868680"/>
            <a:ext cx="2224735" cy="347472"/>
          </a:xfrm>
          <a:prstGeom prst="rect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255D137-EAD5-6FEA-EE45-0835662B4226}"/>
              </a:ext>
            </a:extLst>
          </p:cNvPr>
          <p:cNvSpPr/>
          <p:nvPr/>
        </p:nvSpPr>
        <p:spPr>
          <a:xfrm>
            <a:off x="9601200" y="868680"/>
            <a:ext cx="22247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CF5D55F3-55AF-B337-D2AF-0960EFA22692}"/>
              </a:ext>
            </a:extLst>
          </p:cNvPr>
          <p:cNvSpPr/>
          <p:nvPr/>
        </p:nvSpPr>
        <p:spPr>
          <a:xfrm>
            <a:off x="365760" y="1198900"/>
            <a:ext cx="11460175" cy="12984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42C8619B-BE52-1ADD-EFD5-471073201450}"/>
              </a:ext>
            </a:extLst>
          </p:cNvPr>
          <p:cNvSpPr/>
          <p:nvPr/>
        </p:nvSpPr>
        <p:spPr>
          <a:xfrm>
            <a:off x="365760" y="2514600"/>
            <a:ext cx="11460175" cy="1298448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03162B3E-152A-1D6C-5A89-CFB766140901}"/>
              </a:ext>
            </a:extLst>
          </p:cNvPr>
          <p:cNvSpPr/>
          <p:nvPr/>
        </p:nvSpPr>
        <p:spPr>
          <a:xfrm>
            <a:off x="365760" y="2514600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772FCC9-2D07-4306-9774-EB005FCEB185}"/>
              </a:ext>
            </a:extLst>
          </p:cNvPr>
          <p:cNvSpPr/>
          <p:nvPr/>
        </p:nvSpPr>
        <p:spPr>
          <a:xfrm>
            <a:off x="365760" y="3813048"/>
            <a:ext cx="11460175" cy="1298448"/>
          </a:xfrm>
          <a:prstGeom prst="rect">
            <a:avLst/>
          </a:prstGeom>
          <a:solidFill>
            <a:srgbClr val="F8F5FA"/>
          </a:solidFill>
          <a:ln w="12700">
            <a:solidFill>
              <a:srgbClr val="F8F5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49CB93C1-97BA-B9E2-C8B2-2F68231989E5}"/>
              </a:ext>
            </a:extLst>
          </p:cNvPr>
          <p:cNvSpPr/>
          <p:nvPr/>
        </p:nvSpPr>
        <p:spPr>
          <a:xfrm>
            <a:off x="365760" y="3813048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15">
            <a:extLst>
              <a:ext uri="{FF2B5EF4-FFF2-40B4-BE49-F238E27FC236}">
                <a16:creationId xmlns:a16="http://schemas.microsoft.com/office/drawing/2014/main" id="{ABB34959-E718-C480-B3FA-55624C590DFC}"/>
              </a:ext>
            </a:extLst>
          </p:cNvPr>
          <p:cNvSpPr/>
          <p:nvPr/>
        </p:nvSpPr>
        <p:spPr>
          <a:xfrm>
            <a:off x="365760" y="5111496"/>
            <a:ext cx="11460175" cy="1298448"/>
          </a:xfrm>
          <a:prstGeom prst="rect">
            <a:avLst/>
          </a:prstGeom>
          <a:solidFill>
            <a:srgbClr val="FEF9F3"/>
          </a:solidFill>
          <a:ln w="12700">
            <a:solidFill>
              <a:srgbClr val="FEF9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E8DCCB58-B603-93D6-E878-AC5F14C9009E}"/>
              </a:ext>
            </a:extLst>
          </p:cNvPr>
          <p:cNvSpPr/>
          <p:nvPr/>
        </p:nvSpPr>
        <p:spPr>
          <a:xfrm>
            <a:off x="365760" y="5111496"/>
            <a:ext cx="11460175" cy="0"/>
          </a:xfrm>
          <a:prstGeom prst="line">
            <a:avLst/>
          </a:prstGeom>
          <a:noFill/>
          <a:ln w="12700">
            <a:solidFill>
              <a:srgbClr val="9AA7B4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5F5B48C1-55EC-C2BB-0243-F4E59FB89930}"/>
              </a:ext>
            </a:extLst>
          </p:cNvPr>
          <p:cNvSpPr/>
          <p:nvPr/>
        </p:nvSpPr>
        <p:spPr>
          <a:xfrm>
            <a:off x="237744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CFDBD680-07F3-2DE3-D749-A8F5632CCDD3}"/>
              </a:ext>
            </a:extLst>
          </p:cNvPr>
          <p:cNvSpPr/>
          <p:nvPr/>
        </p:nvSpPr>
        <p:spPr>
          <a:xfrm>
            <a:off x="726948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4ABA3CB9-0992-FCC6-140C-E993BC1D2704}"/>
              </a:ext>
            </a:extLst>
          </p:cNvPr>
          <p:cNvSpPr/>
          <p:nvPr/>
        </p:nvSpPr>
        <p:spPr>
          <a:xfrm>
            <a:off x="9601200" y="1216152"/>
            <a:ext cx="0" cy="5193792"/>
          </a:xfrm>
          <a:prstGeom prst="line">
            <a:avLst/>
          </a:prstGeom>
          <a:noFill/>
          <a:ln w="12700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E79D3894-F090-FA2F-04EB-38716BF70C75}"/>
              </a:ext>
            </a:extLst>
          </p:cNvPr>
          <p:cNvSpPr/>
          <p:nvPr/>
        </p:nvSpPr>
        <p:spPr>
          <a:xfrm>
            <a:off x="365760" y="868680"/>
            <a:ext cx="11460175" cy="5541264"/>
          </a:xfrm>
          <a:prstGeom prst="rect">
            <a:avLst/>
          </a:prstGeom>
          <a:ln w="1905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2C283DF8-0924-D300-CF26-44DBF17A841B}"/>
              </a:ext>
            </a:extLst>
          </p:cNvPr>
          <p:cNvSpPr/>
          <p:nvPr/>
        </p:nvSpPr>
        <p:spPr>
          <a:xfrm>
            <a:off x="2651760" y="1399032"/>
            <a:ext cx="0" cy="4809744"/>
          </a:xfrm>
          <a:prstGeom prst="line">
            <a:avLst/>
          </a:prstGeom>
          <a:noFill/>
          <a:ln w="381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955EAAB1-C024-690B-45DC-11DB5BFC3E54}"/>
              </a:ext>
            </a:extLst>
          </p:cNvPr>
          <p:cNvSpPr/>
          <p:nvPr/>
        </p:nvSpPr>
        <p:spPr>
          <a:xfrm rot="10800000">
            <a:off x="2583180" y="6190488"/>
            <a:ext cx="137160" cy="109728"/>
          </a:xfrm>
          <a:prstGeom prst="triangl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812880D1-475D-809F-A0DA-A24A18BD5146}"/>
              </a:ext>
            </a:extLst>
          </p:cNvPr>
          <p:cNvSpPr/>
          <p:nvPr/>
        </p:nvSpPr>
        <p:spPr>
          <a:xfrm>
            <a:off x="6995160" y="2715768"/>
            <a:ext cx="0" cy="3493008"/>
          </a:xfrm>
          <a:prstGeom prst="line">
            <a:avLst/>
          </a:prstGeom>
          <a:noFill/>
          <a:ln w="381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0D4B0FCD-5656-40B0-9408-B5DD7B8931C5}"/>
              </a:ext>
            </a:extLst>
          </p:cNvPr>
          <p:cNvSpPr/>
          <p:nvPr/>
        </p:nvSpPr>
        <p:spPr>
          <a:xfrm>
            <a:off x="6926580" y="2642616"/>
            <a:ext cx="137160" cy="109728"/>
          </a:xfrm>
          <a:prstGeom prst="triangl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25">
            <a:extLst>
              <a:ext uri="{FF2B5EF4-FFF2-40B4-BE49-F238E27FC236}">
                <a16:creationId xmlns:a16="http://schemas.microsoft.com/office/drawing/2014/main" id="{4EC4F2A5-794B-6C15-6B2C-84331CCB61BB}"/>
              </a:ext>
            </a:extLst>
          </p:cNvPr>
          <p:cNvSpPr/>
          <p:nvPr/>
        </p:nvSpPr>
        <p:spPr>
          <a:xfrm>
            <a:off x="6891474" y="2416604"/>
            <a:ext cx="231362" cy="0"/>
          </a:xfrm>
          <a:prstGeom prst="line">
            <a:avLst/>
          </a:prstGeom>
          <a:noFill/>
          <a:ln w="508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7" name="Text 26">
            <a:extLst>
              <a:ext uri="{FF2B5EF4-FFF2-40B4-BE49-F238E27FC236}">
                <a16:creationId xmlns:a16="http://schemas.microsoft.com/office/drawing/2014/main" id="{D40C1FDC-E8C0-DA15-0D15-6D7E5CC76926}"/>
              </a:ext>
            </a:extLst>
          </p:cNvPr>
          <p:cNvSpPr/>
          <p:nvPr/>
        </p:nvSpPr>
        <p:spPr>
          <a:xfrm rot="16200000">
            <a:off x="1490472" y="37216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flows down</a:t>
            </a:r>
            <a:endParaRPr lang="en-US" sz="1000" dirty="0"/>
          </a:p>
        </p:txBody>
      </p:sp>
      <p:sp>
        <p:nvSpPr>
          <p:cNvPr id="1351" name="Text 27">
            <a:extLst>
              <a:ext uri="{FF2B5EF4-FFF2-40B4-BE49-F238E27FC236}">
                <a16:creationId xmlns:a16="http://schemas.microsoft.com/office/drawing/2014/main" id="{01C8BFBC-F6AB-D020-DF8B-03EE958DD530}"/>
              </a:ext>
            </a:extLst>
          </p:cNvPr>
          <p:cNvSpPr/>
          <p:nvPr/>
        </p:nvSpPr>
        <p:spPr>
          <a:xfrm rot="16200000">
            <a:off x="6144768" y="43708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flow up</a:t>
            </a:r>
            <a:endParaRPr lang="en-US" sz="1000" b="1" dirty="0"/>
          </a:p>
        </p:txBody>
      </p:sp>
      <p:sp>
        <p:nvSpPr>
          <p:cNvPr id="1355" name="Text 28">
            <a:extLst>
              <a:ext uri="{FF2B5EF4-FFF2-40B4-BE49-F238E27FC236}">
                <a16:creationId xmlns:a16="http://schemas.microsoft.com/office/drawing/2014/main" id="{47898C57-BCA9-22B1-2277-F4F784357F61}"/>
              </a:ext>
            </a:extLst>
          </p:cNvPr>
          <p:cNvSpPr/>
          <p:nvPr/>
        </p:nvSpPr>
        <p:spPr>
          <a:xfrm rot="16200000">
            <a:off x="6400972" y="181706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850" dirty="0"/>
          </a:p>
        </p:txBody>
      </p:sp>
      <p:sp>
        <p:nvSpPr>
          <p:cNvPr id="1359" name="Shape 29">
            <a:extLst>
              <a:ext uri="{FF2B5EF4-FFF2-40B4-BE49-F238E27FC236}">
                <a16:creationId xmlns:a16="http://schemas.microsoft.com/office/drawing/2014/main" id="{D786772D-F787-E9BF-1D5A-2567C8EBD0CF}"/>
              </a:ext>
            </a:extLst>
          </p:cNvPr>
          <p:cNvSpPr/>
          <p:nvPr/>
        </p:nvSpPr>
        <p:spPr>
          <a:xfrm>
            <a:off x="502920" y="1490472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1F5FA6"/>
          </a:solidFill>
          <a:ln w="12700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3" name="Text 30">
            <a:extLst>
              <a:ext uri="{FF2B5EF4-FFF2-40B4-BE49-F238E27FC236}">
                <a16:creationId xmlns:a16="http://schemas.microsoft.com/office/drawing/2014/main" id="{3EB64FA7-1459-026E-A763-F268097A0DEC}"/>
              </a:ext>
            </a:extLst>
          </p:cNvPr>
          <p:cNvSpPr/>
          <p:nvPr/>
        </p:nvSpPr>
        <p:spPr>
          <a:xfrm>
            <a:off x="539496" y="149047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IFQM Platform Admin</a:t>
            </a:r>
            <a:endParaRPr lang="en-US" sz="1200" dirty="0"/>
          </a:p>
        </p:txBody>
      </p:sp>
      <p:sp>
        <p:nvSpPr>
          <p:cNvPr id="1367" name="Text 31">
            <a:extLst>
              <a:ext uri="{FF2B5EF4-FFF2-40B4-BE49-F238E27FC236}">
                <a16:creationId xmlns:a16="http://schemas.microsoft.com/office/drawing/2014/main" id="{7E305DC7-BAB9-C89F-3EBB-166A2D38D655}"/>
              </a:ext>
            </a:extLst>
          </p:cNvPr>
          <p:cNvSpPr/>
          <p:nvPr/>
        </p:nvSpPr>
        <p:spPr>
          <a:xfrm>
            <a:off x="50292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· Platform</a:t>
            </a:r>
            <a:endParaRPr lang="en-US" sz="900" dirty="0"/>
          </a:p>
        </p:txBody>
      </p:sp>
      <p:sp>
        <p:nvSpPr>
          <p:cNvPr id="1371" name="Shape 32">
            <a:extLst>
              <a:ext uri="{FF2B5EF4-FFF2-40B4-BE49-F238E27FC236}">
                <a16:creationId xmlns:a16="http://schemas.microsoft.com/office/drawing/2014/main" id="{529832BB-DE88-6265-4ED4-21D734BEEE3A}"/>
              </a:ext>
            </a:extLst>
          </p:cNvPr>
          <p:cNvSpPr/>
          <p:nvPr/>
        </p:nvSpPr>
        <p:spPr>
          <a:xfrm>
            <a:off x="2651760" y="1865376"/>
            <a:ext cx="283464" cy="0"/>
          </a:xfrm>
          <a:prstGeom prst="line">
            <a:avLst/>
          </a:prstGeom>
          <a:noFill/>
          <a:ln w="22225">
            <a:solidFill>
              <a:srgbClr val="1F5FA6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75" name="Shape 33">
            <a:extLst>
              <a:ext uri="{FF2B5EF4-FFF2-40B4-BE49-F238E27FC236}">
                <a16:creationId xmlns:a16="http://schemas.microsoft.com/office/drawing/2014/main" id="{FC7FBF1E-B058-F1D4-557C-C941308D37ED}"/>
              </a:ext>
            </a:extLst>
          </p:cNvPr>
          <p:cNvSpPr/>
          <p:nvPr/>
        </p:nvSpPr>
        <p:spPr>
          <a:xfrm>
            <a:off x="2962656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9" name="Text 34">
            <a:extLst>
              <a:ext uri="{FF2B5EF4-FFF2-40B4-BE49-F238E27FC236}">
                <a16:creationId xmlns:a16="http://schemas.microsoft.com/office/drawing/2014/main" id="{30FE05A4-54FC-449E-5218-BF375CAF30E3}"/>
              </a:ext>
            </a:extLst>
          </p:cNvPr>
          <p:cNvSpPr/>
          <p:nvPr/>
        </p:nvSpPr>
        <p:spPr>
          <a:xfrm>
            <a:off x="2990088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Org</a:t>
            </a:r>
            <a:endParaRPr lang="en-US" sz="1000" dirty="0"/>
          </a:p>
        </p:txBody>
      </p:sp>
      <p:sp>
        <p:nvSpPr>
          <p:cNvPr id="1383" name="Shape 35">
            <a:extLst>
              <a:ext uri="{FF2B5EF4-FFF2-40B4-BE49-F238E27FC236}">
                <a16:creationId xmlns:a16="http://schemas.microsoft.com/office/drawing/2014/main" id="{3C28662B-6B24-52F1-7C04-B944BA7BB046}"/>
              </a:ext>
            </a:extLst>
          </p:cNvPr>
          <p:cNvSpPr/>
          <p:nvPr/>
        </p:nvSpPr>
        <p:spPr>
          <a:xfrm>
            <a:off x="4047744" y="1865376"/>
            <a:ext cx="219456" cy="0"/>
          </a:xfrm>
          <a:prstGeom prst="line">
            <a:avLst/>
          </a:prstGeom>
          <a:noFill/>
          <a:ln w="22225">
            <a:solidFill>
              <a:srgbClr val="16437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87" name="Shape 36">
            <a:extLst>
              <a:ext uri="{FF2B5EF4-FFF2-40B4-BE49-F238E27FC236}">
                <a16:creationId xmlns:a16="http://schemas.microsoft.com/office/drawing/2014/main" id="{D5DAB56E-1D08-6E81-E1D7-E2B9B8E356FA}"/>
              </a:ext>
            </a:extLst>
          </p:cNvPr>
          <p:cNvSpPr/>
          <p:nvPr/>
        </p:nvSpPr>
        <p:spPr>
          <a:xfrm>
            <a:off x="4294632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1" name="Text 37">
            <a:extLst>
              <a:ext uri="{FF2B5EF4-FFF2-40B4-BE49-F238E27FC236}">
                <a16:creationId xmlns:a16="http://schemas.microsoft.com/office/drawing/2014/main" id="{E62470B1-2DF3-37B6-6410-17F3425DD5ED}"/>
              </a:ext>
            </a:extLst>
          </p:cNvPr>
          <p:cNvSpPr/>
          <p:nvPr/>
        </p:nvSpPr>
        <p:spPr>
          <a:xfrm>
            <a:off x="4322064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Plan</a:t>
            </a:r>
            <a:endParaRPr lang="en-US" sz="1000" dirty="0"/>
          </a:p>
        </p:txBody>
      </p:sp>
      <p:sp>
        <p:nvSpPr>
          <p:cNvPr id="1395" name="Shape 38">
            <a:extLst>
              <a:ext uri="{FF2B5EF4-FFF2-40B4-BE49-F238E27FC236}">
                <a16:creationId xmlns:a16="http://schemas.microsoft.com/office/drawing/2014/main" id="{1F522B0B-F5AC-53FF-AB54-10E9955ED6AB}"/>
              </a:ext>
            </a:extLst>
          </p:cNvPr>
          <p:cNvSpPr/>
          <p:nvPr/>
        </p:nvSpPr>
        <p:spPr>
          <a:xfrm>
            <a:off x="5379720" y="1865376"/>
            <a:ext cx="219456" cy="0"/>
          </a:xfrm>
          <a:prstGeom prst="line">
            <a:avLst/>
          </a:prstGeom>
          <a:noFill/>
          <a:ln w="22225">
            <a:solidFill>
              <a:srgbClr val="16437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99" name="Shape 39">
            <a:extLst>
              <a:ext uri="{FF2B5EF4-FFF2-40B4-BE49-F238E27FC236}">
                <a16:creationId xmlns:a16="http://schemas.microsoft.com/office/drawing/2014/main" id="{61284775-1F28-077E-BD60-0770F640354B}"/>
              </a:ext>
            </a:extLst>
          </p:cNvPr>
          <p:cNvSpPr/>
          <p:nvPr/>
        </p:nvSpPr>
        <p:spPr>
          <a:xfrm>
            <a:off x="5626608" y="1636776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1" name="Text 40">
            <a:extLst>
              <a:ext uri="{FF2B5EF4-FFF2-40B4-BE49-F238E27FC236}">
                <a16:creationId xmlns:a16="http://schemas.microsoft.com/office/drawing/2014/main" id="{83AEF4EE-EDC1-DF06-6AF0-99E174E68C2C}"/>
              </a:ext>
            </a:extLst>
          </p:cNvPr>
          <p:cNvSpPr/>
          <p:nvPr/>
        </p:nvSpPr>
        <p:spPr>
          <a:xfrm>
            <a:off x="5654040" y="1636776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Policy</a:t>
            </a:r>
            <a:endParaRPr lang="en-US" sz="1000" dirty="0"/>
          </a:p>
        </p:txBody>
      </p:sp>
      <p:sp>
        <p:nvSpPr>
          <p:cNvPr id="1403" name="Shape 41">
            <a:extLst>
              <a:ext uri="{FF2B5EF4-FFF2-40B4-BE49-F238E27FC236}">
                <a16:creationId xmlns:a16="http://schemas.microsoft.com/office/drawing/2014/main" id="{10394908-2AE5-B86C-FFF4-5967A5FA83CC}"/>
              </a:ext>
            </a:extLst>
          </p:cNvPr>
          <p:cNvSpPr/>
          <p:nvPr/>
        </p:nvSpPr>
        <p:spPr>
          <a:xfrm>
            <a:off x="7406640" y="1750813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9F3"/>
          </a:solidFill>
          <a:ln w="15875">
            <a:solidFill>
              <a:srgbClr val="1F5F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5" name="Text 42">
            <a:extLst>
              <a:ext uri="{FF2B5EF4-FFF2-40B4-BE49-F238E27FC236}">
                <a16:creationId xmlns:a16="http://schemas.microsoft.com/office/drawing/2014/main" id="{D90EE823-474E-AEBC-F8EE-FE7A13A7FCFD}"/>
              </a:ext>
            </a:extLst>
          </p:cNvPr>
          <p:cNvSpPr/>
          <p:nvPr/>
        </p:nvSpPr>
        <p:spPr>
          <a:xfrm>
            <a:off x="7461504" y="175082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4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· Plans</a:t>
            </a:r>
            <a:endParaRPr lang="en-US" sz="1000" dirty="0"/>
          </a:p>
        </p:txBody>
      </p:sp>
      <p:sp>
        <p:nvSpPr>
          <p:cNvPr id="897" name="Text 44">
            <a:extLst>
              <a:ext uri="{FF2B5EF4-FFF2-40B4-BE49-F238E27FC236}">
                <a16:creationId xmlns:a16="http://schemas.microsoft.com/office/drawing/2014/main" id="{3730C037-675A-ED45-5DF8-58232F9BDE6F}"/>
              </a:ext>
            </a:extLst>
          </p:cNvPr>
          <p:cNvSpPr/>
          <p:nvPr/>
        </p:nvSpPr>
        <p:spPr>
          <a:xfrm>
            <a:off x="7461504" y="19202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99" name="Shape 45">
            <a:extLst>
              <a:ext uri="{FF2B5EF4-FFF2-40B4-BE49-F238E27FC236}">
                <a16:creationId xmlns:a16="http://schemas.microsoft.com/office/drawing/2014/main" id="{F357D135-20CE-21D5-06EF-38E7EB228374}"/>
              </a:ext>
            </a:extLst>
          </p:cNvPr>
          <p:cNvSpPr/>
          <p:nvPr/>
        </p:nvSpPr>
        <p:spPr>
          <a:xfrm>
            <a:off x="9738360" y="1673352"/>
            <a:ext cx="100584" cy="100584"/>
          </a:xfrm>
          <a:prstGeom prst="ellipse">
            <a:avLst/>
          </a:prstGeom>
          <a:solidFill>
            <a:srgbClr val="164374"/>
          </a:solidFill>
          <a:ln w="12700">
            <a:solidFill>
              <a:srgbClr val="1643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1" name="Text 46">
            <a:extLst>
              <a:ext uri="{FF2B5EF4-FFF2-40B4-BE49-F238E27FC236}">
                <a16:creationId xmlns:a16="http://schemas.microsoft.com/office/drawing/2014/main" id="{1CA7451B-3454-FFBF-FF0F-3E619754AC21}"/>
              </a:ext>
            </a:extLst>
          </p:cNvPr>
          <p:cNvSpPr/>
          <p:nvPr/>
        </p:nvSpPr>
        <p:spPr>
          <a:xfrm>
            <a:off x="9921240" y="1591056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billing only</a:t>
            </a:r>
            <a:endParaRPr lang="en-US" sz="1050" dirty="0"/>
          </a:p>
        </p:txBody>
      </p:sp>
      <p:sp>
        <p:nvSpPr>
          <p:cNvPr id="903" name="Shape 47">
            <a:extLst>
              <a:ext uri="{FF2B5EF4-FFF2-40B4-BE49-F238E27FC236}">
                <a16:creationId xmlns:a16="http://schemas.microsoft.com/office/drawing/2014/main" id="{F84ABDA2-FE7C-5331-4AC8-1E1C23ACE366}"/>
              </a:ext>
            </a:extLst>
          </p:cNvPr>
          <p:cNvSpPr/>
          <p:nvPr/>
        </p:nvSpPr>
        <p:spPr>
          <a:xfrm>
            <a:off x="9738360" y="1947672"/>
            <a:ext cx="100584" cy="1005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5" name="Text 48">
            <a:extLst>
              <a:ext uri="{FF2B5EF4-FFF2-40B4-BE49-F238E27FC236}">
                <a16:creationId xmlns:a16="http://schemas.microsoft.com/office/drawing/2014/main" id="{8D2F7BC5-4706-DD5D-70D2-3703318FB20F}"/>
              </a:ext>
            </a:extLst>
          </p:cNvPr>
          <p:cNvSpPr/>
          <p:nvPr/>
        </p:nvSpPr>
        <p:spPr>
          <a:xfrm>
            <a:off x="9921240" y="1865376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reads an idea</a:t>
            </a:r>
            <a:endParaRPr lang="en-US" sz="1050" dirty="0"/>
          </a:p>
        </p:txBody>
      </p:sp>
      <p:sp>
        <p:nvSpPr>
          <p:cNvPr id="907" name="Shape 49">
            <a:extLst>
              <a:ext uri="{FF2B5EF4-FFF2-40B4-BE49-F238E27FC236}">
                <a16:creationId xmlns:a16="http://schemas.microsoft.com/office/drawing/2014/main" id="{82A6D5E2-540A-5522-7D67-9AC6BA7CC87C}"/>
              </a:ext>
            </a:extLst>
          </p:cNvPr>
          <p:cNvSpPr/>
          <p:nvPr/>
        </p:nvSpPr>
        <p:spPr>
          <a:xfrm>
            <a:off x="502920" y="2788920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9" name="Text 50">
            <a:extLst>
              <a:ext uri="{FF2B5EF4-FFF2-40B4-BE49-F238E27FC236}">
                <a16:creationId xmlns:a16="http://schemas.microsoft.com/office/drawing/2014/main" id="{9DB876DA-772B-6D3F-2D53-E9B812B0AD6F}"/>
              </a:ext>
            </a:extLst>
          </p:cNvPr>
          <p:cNvSpPr/>
          <p:nvPr/>
        </p:nvSpPr>
        <p:spPr>
          <a:xfrm>
            <a:off x="539496" y="278892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Admin</a:t>
            </a:r>
            <a:endParaRPr lang="en-US" sz="1200" dirty="0"/>
          </a:p>
        </p:txBody>
      </p:sp>
      <p:sp>
        <p:nvSpPr>
          <p:cNvPr id="911" name="Text 51">
            <a:extLst>
              <a:ext uri="{FF2B5EF4-FFF2-40B4-BE49-F238E27FC236}">
                <a16:creationId xmlns:a16="http://schemas.microsoft.com/office/drawing/2014/main" id="{9B8D6816-60B5-7E38-12DB-936BDE2C1FF9}"/>
              </a:ext>
            </a:extLst>
          </p:cNvPr>
          <p:cNvSpPr/>
          <p:nvPr/>
        </p:nvSpPr>
        <p:spPr>
          <a:xfrm>
            <a:off x="50292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· Organisation</a:t>
            </a:r>
            <a:endParaRPr lang="en-US" sz="900" dirty="0"/>
          </a:p>
        </p:txBody>
      </p:sp>
      <p:sp>
        <p:nvSpPr>
          <p:cNvPr id="913" name="Shape 52">
            <a:extLst>
              <a:ext uri="{FF2B5EF4-FFF2-40B4-BE49-F238E27FC236}">
                <a16:creationId xmlns:a16="http://schemas.microsoft.com/office/drawing/2014/main" id="{3A974D65-7B59-272B-2BA7-899FA87E99EF}"/>
              </a:ext>
            </a:extLst>
          </p:cNvPr>
          <p:cNvSpPr/>
          <p:nvPr/>
        </p:nvSpPr>
        <p:spPr>
          <a:xfrm>
            <a:off x="2651760" y="3163824"/>
            <a:ext cx="283464" cy="0"/>
          </a:xfrm>
          <a:prstGeom prst="line">
            <a:avLst/>
          </a:prstGeom>
          <a:noFill/>
          <a:ln w="22225">
            <a:solidFill>
              <a:srgbClr val="1F8A4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15" name="Shape 53">
            <a:extLst>
              <a:ext uri="{FF2B5EF4-FFF2-40B4-BE49-F238E27FC236}">
                <a16:creationId xmlns:a16="http://schemas.microsoft.com/office/drawing/2014/main" id="{E1CA11C2-3E68-023E-F403-2D3AC5BB3C64}"/>
              </a:ext>
            </a:extLst>
          </p:cNvPr>
          <p:cNvSpPr/>
          <p:nvPr/>
        </p:nvSpPr>
        <p:spPr>
          <a:xfrm>
            <a:off x="2962656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7" name="Text 54">
            <a:extLst>
              <a:ext uri="{FF2B5EF4-FFF2-40B4-BE49-F238E27FC236}">
                <a16:creationId xmlns:a16="http://schemas.microsoft.com/office/drawing/2014/main" id="{35322B1E-CB8A-A639-E848-A78D53FD3530}"/>
              </a:ext>
            </a:extLst>
          </p:cNvPr>
          <p:cNvSpPr/>
          <p:nvPr/>
        </p:nvSpPr>
        <p:spPr>
          <a:xfrm>
            <a:off x="2990088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Users</a:t>
            </a:r>
            <a:endParaRPr lang="en-US" sz="1000" dirty="0"/>
          </a:p>
        </p:txBody>
      </p:sp>
      <p:sp>
        <p:nvSpPr>
          <p:cNvPr id="919" name="Shape 55">
            <a:extLst>
              <a:ext uri="{FF2B5EF4-FFF2-40B4-BE49-F238E27FC236}">
                <a16:creationId xmlns:a16="http://schemas.microsoft.com/office/drawing/2014/main" id="{A1C5BF0A-95AB-6FEA-B6A8-B02C981D3363}"/>
              </a:ext>
            </a:extLst>
          </p:cNvPr>
          <p:cNvSpPr/>
          <p:nvPr/>
        </p:nvSpPr>
        <p:spPr>
          <a:xfrm>
            <a:off x="4047744" y="3163824"/>
            <a:ext cx="219456" cy="0"/>
          </a:xfrm>
          <a:prstGeom prst="line">
            <a:avLst/>
          </a:prstGeom>
          <a:noFill/>
          <a:ln w="22225">
            <a:solidFill>
              <a:srgbClr val="1661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21" name="Shape 56">
            <a:extLst>
              <a:ext uri="{FF2B5EF4-FFF2-40B4-BE49-F238E27FC236}">
                <a16:creationId xmlns:a16="http://schemas.microsoft.com/office/drawing/2014/main" id="{60597F7F-A01C-6B65-BA92-03EE41C6E3F9}"/>
              </a:ext>
            </a:extLst>
          </p:cNvPr>
          <p:cNvSpPr/>
          <p:nvPr/>
        </p:nvSpPr>
        <p:spPr>
          <a:xfrm>
            <a:off x="4294632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3" name="Text 57">
            <a:extLst>
              <a:ext uri="{FF2B5EF4-FFF2-40B4-BE49-F238E27FC236}">
                <a16:creationId xmlns:a16="http://schemas.microsoft.com/office/drawing/2014/main" id="{2FC3B476-749B-6CF0-0083-17821CEC0603}"/>
              </a:ext>
            </a:extLst>
          </p:cNvPr>
          <p:cNvSpPr/>
          <p:nvPr/>
        </p:nvSpPr>
        <p:spPr>
          <a:xfrm>
            <a:off x="4322064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Approval Chain</a:t>
            </a:r>
            <a:endParaRPr lang="en-US" sz="1000" dirty="0"/>
          </a:p>
        </p:txBody>
      </p:sp>
      <p:sp>
        <p:nvSpPr>
          <p:cNvPr id="925" name="Shape 58">
            <a:extLst>
              <a:ext uri="{FF2B5EF4-FFF2-40B4-BE49-F238E27FC236}">
                <a16:creationId xmlns:a16="http://schemas.microsoft.com/office/drawing/2014/main" id="{BC99A60D-0636-5E5C-DA29-6C9980167A13}"/>
              </a:ext>
            </a:extLst>
          </p:cNvPr>
          <p:cNvSpPr/>
          <p:nvPr/>
        </p:nvSpPr>
        <p:spPr>
          <a:xfrm>
            <a:off x="5379720" y="3163824"/>
            <a:ext cx="219456" cy="0"/>
          </a:xfrm>
          <a:prstGeom prst="line">
            <a:avLst/>
          </a:prstGeom>
          <a:noFill/>
          <a:ln w="22225">
            <a:solidFill>
              <a:srgbClr val="16613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27" name="Shape 59">
            <a:extLst>
              <a:ext uri="{FF2B5EF4-FFF2-40B4-BE49-F238E27FC236}">
                <a16:creationId xmlns:a16="http://schemas.microsoft.com/office/drawing/2014/main" id="{791B9934-798C-F943-ADEE-47C4C9B8F15A}"/>
              </a:ext>
            </a:extLst>
          </p:cNvPr>
          <p:cNvSpPr/>
          <p:nvPr/>
        </p:nvSpPr>
        <p:spPr>
          <a:xfrm>
            <a:off x="5626608" y="2935224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9" name="Text 60">
            <a:extLst>
              <a:ext uri="{FF2B5EF4-FFF2-40B4-BE49-F238E27FC236}">
                <a16:creationId xmlns:a16="http://schemas.microsoft.com/office/drawing/2014/main" id="{2485AB32-036A-9245-8698-AD1D69DB75D6}"/>
              </a:ext>
            </a:extLst>
          </p:cNvPr>
          <p:cNvSpPr/>
          <p:nvPr/>
        </p:nvSpPr>
        <p:spPr>
          <a:xfrm>
            <a:off x="5654040" y="2935224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Branding</a:t>
            </a:r>
            <a:endParaRPr lang="en-US" sz="1000" dirty="0"/>
          </a:p>
        </p:txBody>
      </p:sp>
      <p:sp>
        <p:nvSpPr>
          <p:cNvPr id="931" name="Shape 61">
            <a:extLst>
              <a:ext uri="{FF2B5EF4-FFF2-40B4-BE49-F238E27FC236}">
                <a16:creationId xmlns:a16="http://schemas.microsoft.com/office/drawing/2014/main" id="{41512AFF-2E78-ED49-1A2A-986ED9D9072F}"/>
              </a:ext>
            </a:extLst>
          </p:cNvPr>
          <p:cNvSpPr/>
          <p:nvPr/>
        </p:nvSpPr>
        <p:spPr>
          <a:xfrm>
            <a:off x="6812280" y="3163824"/>
            <a:ext cx="182880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3" name="Shape 62">
            <a:extLst>
              <a:ext uri="{FF2B5EF4-FFF2-40B4-BE49-F238E27FC236}">
                <a16:creationId xmlns:a16="http://schemas.microsoft.com/office/drawing/2014/main" id="{4897FB07-F35E-4259-9B09-50F59E1BBCC1}"/>
              </a:ext>
            </a:extLst>
          </p:cNvPr>
          <p:cNvSpPr/>
          <p:nvPr/>
        </p:nvSpPr>
        <p:spPr>
          <a:xfrm rot="16200000">
            <a:off x="6702552" y="3108960"/>
            <a:ext cx="109728" cy="109728"/>
          </a:xfrm>
          <a:prstGeom prst="triangl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5" name="Shape 63">
            <a:extLst>
              <a:ext uri="{FF2B5EF4-FFF2-40B4-BE49-F238E27FC236}">
                <a16:creationId xmlns:a16="http://schemas.microsoft.com/office/drawing/2014/main" id="{9B06055F-F821-F9F0-1775-A47280A4D458}"/>
              </a:ext>
            </a:extLst>
          </p:cNvPr>
          <p:cNvSpPr/>
          <p:nvPr/>
        </p:nvSpPr>
        <p:spPr>
          <a:xfrm>
            <a:off x="7406640" y="2816352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FE6"/>
          </a:solidFill>
          <a:ln w="1587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7" name="Text 64">
            <a:extLst>
              <a:ext uri="{FF2B5EF4-FFF2-40B4-BE49-F238E27FC236}">
                <a16:creationId xmlns:a16="http://schemas.microsoft.com/office/drawing/2014/main" id="{526924C4-7143-3A57-ADDC-B4A2A50925DF}"/>
              </a:ext>
            </a:extLst>
          </p:cNvPr>
          <p:cNvSpPr/>
          <p:nvPr/>
        </p:nvSpPr>
        <p:spPr>
          <a:xfrm>
            <a:off x="7461504" y="2816352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Roles · Departments</a:t>
            </a:r>
            <a:endParaRPr lang="en-US" sz="1000" dirty="0"/>
          </a:p>
        </p:txBody>
      </p:sp>
      <p:sp>
        <p:nvSpPr>
          <p:cNvPr id="939" name="Shape 65">
            <a:extLst>
              <a:ext uri="{FF2B5EF4-FFF2-40B4-BE49-F238E27FC236}">
                <a16:creationId xmlns:a16="http://schemas.microsoft.com/office/drawing/2014/main" id="{B0EE9D6B-F042-786C-9C7A-84A9706F2072}"/>
              </a:ext>
            </a:extLst>
          </p:cNvPr>
          <p:cNvSpPr/>
          <p:nvPr/>
        </p:nvSpPr>
        <p:spPr>
          <a:xfrm>
            <a:off x="7406640" y="3218688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0EFE6"/>
          </a:solidFill>
          <a:ln w="15875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1" name="Text 66">
            <a:extLst>
              <a:ext uri="{FF2B5EF4-FFF2-40B4-BE49-F238E27FC236}">
                <a16:creationId xmlns:a16="http://schemas.microsoft.com/office/drawing/2014/main" id="{C025C72A-5CAE-1D5B-F4D0-20973A23CDF4}"/>
              </a:ext>
            </a:extLst>
          </p:cNvPr>
          <p:cNvSpPr/>
          <p:nvPr/>
        </p:nvSpPr>
        <p:spPr>
          <a:xfrm>
            <a:off x="7461504" y="321868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chain · Settings</a:t>
            </a:r>
            <a:endParaRPr lang="en-US" sz="1000" dirty="0"/>
          </a:p>
        </p:txBody>
      </p:sp>
      <p:sp>
        <p:nvSpPr>
          <p:cNvPr id="943" name="Shape 67">
            <a:extLst>
              <a:ext uri="{FF2B5EF4-FFF2-40B4-BE49-F238E27FC236}">
                <a16:creationId xmlns:a16="http://schemas.microsoft.com/office/drawing/2014/main" id="{6B1AF627-D045-EADF-B6A7-A567E7B0EE4F}"/>
              </a:ext>
            </a:extLst>
          </p:cNvPr>
          <p:cNvSpPr/>
          <p:nvPr/>
        </p:nvSpPr>
        <p:spPr>
          <a:xfrm>
            <a:off x="9738360" y="2971800"/>
            <a:ext cx="100584" cy="100584"/>
          </a:xfrm>
          <a:prstGeom prst="ellipse">
            <a:avLst/>
          </a:prstGeom>
          <a:solidFill>
            <a:srgbClr val="166135"/>
          </a:solidFill>
          <a:ln w="12700">
            <a:solidFill>
              <a:srgbClr val="1661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7" name="Text 68">
            <a:extLst>
              <a:ext uri="{FF2B5EF4-FFF2-40B4-BE49-F238E27FC236}">
                <a16:creationId xmlns:a16="http://schemas.microsoft.com/office/drawing/2014/main" id="{0A457C0A-53DC-AF9B-4F97-7DFCB3481C91}"/>
              </a:ext>
            </a:extLst>
          </p:cNvPr>
          <p:cNvSpPr/>
          <p:nvPr/>
        </p:nvSpPr>
        <p:spPr>
          <a:xfrm>
            <a:off x="9921240" y="2889504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analytics</a:t>
            </a:r>
            <a:endParaRPr lang="en-US" sz="1050" dirty="0"/>
          </a:p>
        </p:txBody>
      </p:sp>
      <p:sp>
        <p:nvSpPr>
          <p:cNvPr id="951" name="Shape 69">
            <a:extLst>
              <a:ext uri="{FF2B5EF4-FFF2-40B4-BE49-F238E27FC236}">
                <a16:creationId xmlns:a16="http://schemas.microsoft.com/office/drawing/2014/main" id="{814C0753-609B-32F4-63AA-3C8582B6A786}"/>
              </a:ext>
            </a:extLst>
          </p:cNvPr>
          <p:cNvSpPr/>
          <p:nvPr/>
        </p:nvSpPr>
        <p:spPr>
          <a:xfrm>
            <a:off x="9738360" y="3246120"/>
            <a:ext cx="100584" cy="100584"/>
          </a:xfrm>
          <a:prstGeom prst="ellipse">
            <a:avLst/>
          </a:prstGeom>
          <a:solidFill>
            <a:srgbClr val="166135"/>
          </a:solidFill>
          <a:ln w="12700">
            <a:solidFill>
              <a:srgbClr val="1661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5" name="Text 70">
            <a:extLst>
              <a:ext uri="{FF2B5EF4-FFF2-40B4-BE49-F238E27FC236}">
                <a16:creationId xmlns:a16="http://schemas.microsoft.com/office/drawing/2014/main" id="{E57BCA39-12B2-CB44-C857-8E7AE193CAB3}"/>
              </a:ext>
            </a:extLst>
          </p:cNvPr>
          <p:cNvSpPr/>
          <p:nvPr/>
        </p:nvSpPr>
        <p:spPr>
          <a:xfrm>
            <a:off x="9921240" y="3163824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50" dirty="0"/>
          </a:p>
        </p:txBody>
      </p:sp>
      <p:sp>
        <p:nvSpPr>
          <p:cNvPr id="959" name="Shape 71">
            <a:extLst>
              <a:ext uri="{FF2B5EF4-FFF2-40B4-BE49-F238E27FC236}">
                <a16:creationId xmlns:a16="http://schemas.microsoft.com/office/drawing/2014/main" id="{56D92D7D-C593-8137-DC0E-9A836C776492}"/>
              </a:ext>
            </a:extLst>
          </p:cNvPr>
          <p:cNvSpPr/>
          <p:nvPr/>
        </p:nvSpPr>
        <p:spPr>
          <a:xfrm>
            <a:off x="502920" y="4087368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3" name="Text 72">
            <a:extLst>
              <a:ext uri="{FF2B5EF4-FFF2-40B4-BE49-F238E27FC236}">
                <a16:creationId xmlns:a16="http://schemas.microsoft.com/office/drawing/2014/main" id="{8D9F303C-269B-769C-977A-FDD963ACF4A0}"/>
              </a:ext>
            </a:extLst>
          </p:cNvPr>
          <p:cNvSpPr/>
          <p:nvPr/>
        </p:nvSpPr>
        <p:spPr>
          <a:xfrm>
            <a:off x="539496" y="408736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/ Plant Head</a:t>
            </a:r>
            <a:endParaRPr lang="en-US" sz="1200" dirty="0"/>
          </a:p>
        </p:txBody>
      </p:sp>
      <p:sp>
        <p:nvSpPr>
          <p:cNvPr id="967" name="Text 73">
            <a:extLst>
              <a:ext uri="{FF2B5EF4-FFF2-40B4-BE49-F238E27FC236}">
                <a16:creationId xmlns:a16="http://schemas.microsoft.com/office/drawing/2014/main" id="{7C99A637-CC61-662C-BE14-1C31774FBB33}"/>
              </a:ext>
            </a:extLst>
          </p:cNvPr>
          <p:cNvSpPr/>
          <p:nvPr/>
        </p:nvSpPr>
        <p:spPr>
          <a:xfrm>
            <a:off x="502920" y="4636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· Approval chain</a:t>
            </a:r>
            <a:endParaRPr lang="en-US" sz="900" dirty="0"/>
          </a:p>
        </p:txBody>
      </p:sp>
      <p:sp>
        <p:nvSpPr>
          <p:cNvPr id="971" name="Shape 74">
            <a:extLst>
              <a:ext uri="{FF2B5EF4-FFF2-40B4-BE49-F238E27FC236}">
                <a16:creationId xmlns:a16="http://schemas.microsoft.com/office/drawing/2014/main" id="{75F8FC8E-9FB9-F5E1-70F1-D68813F77557}"/>
              </a:ext>
            </a:extLst>
          </p:cNvPr>
          <p:cNvSpPr/>
          <p:nvPr/>
        </p:nvSpPr>
        <p:spPr>
          <a:xfrm>
            <a:off x="2651760" y="4462272"/>
            <a:ext cx="283464" cy="0"/>
          </a:xfrm>
          <a:prstGeom prst="line">
            <a:avLst/>
          </a:prstGeom>
          <a:noFill/>
          <a:ln w="22225">
            <a:solidFill>
              <a:srgbClr val="6B3FA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75" name="Shape 75">
            <a:extLst>
              <a:ext uri="{FF2B5EF4-FFF2-40B4-BE49-F238E27FC236}">
                <a16:creationId xmlns:a16="http://schemas.microsoft.com/office/drawing/2014/main" id="{8E392E17-5260-3568-D09A-7575E506B8FD}"/>
              </a:ext>
            </a:extLst>
          </p:cNvPr>
          <p:cNvSpPr/>
          <p:nvPr/>
        </p:nvSpPr>
        <p:spPr>
          <a:xfrm>
            <a:off x="2962656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9" name="Text 76">
            <a:extLst>
              <a:ext uri="{FF2B5EF4-FFF2-40B4-BE49-F238E27FC236}">
                <a16:creationId xmlns:a16="http://schemas.microsoft.com/office/drawing/2014/main" id="{4EB87118-5686-8E7A-4058-6899F641301E}"/>
              </a:ext>
            </a:extLst>
          </p:cNvPr>
          <p:cNvSpPr/>
          <p:nvPr/>
        </p:nvSpPr>
        <p:spPr>
          <a:xfrm>
            <a:off x="2990088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Review Queue</a:t>
            </a:r>
            <a:endParaRPr lang="en-US" sz="1000" dirty="0"/>
          </a:p>
        </p:txBody>
      </p:sp>
      <p:sp>
        <p:nvSpPr>
          <p:cNvPr id="983" name="Shape 77">
            <a:extLst>
              <a:ext uri="{FF2B5EF4-FFF2-40B4-BE49-F238E27FC236}">
                <a16:creationId xmlns:a16="http://schemas.microsoft.com/office/drawing/2014/main" id="{C5D133BB-9E65-CF4E-62B9-9EFBF57725E6}"/>
              </a:ext>
            </a:extLst>
          </p:cNvPr>
          <p:cNvSpPr/>
          <p:nvPr/>
        </p:nvSpPr>
        <p:spPr>
          <a:xfrm>
            <a:off x="4047744" y="4462272"/>
            <a:ext cx="219456" cy="0"/>
          </a:xfrm>
          <a:prstGeom prst="line">
            <a:avLst/>
          </a:prstGeom>
          <a:noFill/>
          <a:ln w="22225">
            <a:solidFill>
              <a:srgbClr val="4B2C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87" name="Shape 78">
            <a:extLst>
              <a:ext uri="{FF2B5EF4-FFF2-40B4-BE49-F238E27FC236}">
                <a16:creationId xmlns:a16="http://schemas.microsoft.com/office/drawing/2014/main" id="{7F8FAF15-0335-4658-AE02-D07A92D3DC27}"/>
              </a:ext>
            </a:extLst>
          </p:cNvPr>
          <p:cNvSpPr/>
          <p:nvPr/>
        </p:nvSpPr>
        <p:spPr>
          <a:xfrm>
            <a:off x="4294632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1" name="Text 79">
            <a:extLst>
              <a:ext uri="{FF2B5EF4-FFF2-40B4-BE49-F238E27FC236}">
                <a16:creationId xmlns:a16="http://schemas.microsoft.com/office/drawing/2014/main" id="{6057B1A5-6F59-DE2B-361C-3681F2AF0E13}"/>
              </a:ext>
            </a:extLst>
          </p:cNvPr>
          <p:cNvSpPr/>
          <p:nvPr/>
        </p:nvSpPr>
        <p:spPr>
          <a:xfrm>
            <a:off x="4322064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&amp; Comment</a:t>
            </a:r>
            <a:endParaRPr lang="en-US" sz="1000" dirty="0"/>
          </a:p>
        </p:txBody>
      </p:sp>
      <p:sp>
        <p:nvSpPr>
          <p:cNvPr id="995" name="Shape 80">
            <a:extLst>
              <a:ext uri="{FF2B5EF4-FFF2-40B4-BE49-F238E27FC236}">
                <a16:creationId xmlns:a16="http://schemas.microsoft.com/office/drawing/2014/main" id="{D88647BE-11B9-CFDF-ADA7-CEF2BAF8A5E9}"/>
              </a:ext>
            </a:extLst>
          </p:cNvPr>
          <p:cNvSpPr/>
          <p:nvPr/>
        </p:nvSpPr>
        <p:spPr>
          <a:xfrm>
            <a:off x="5379720" y="4462272"/>
            <a:ext cx="219456" cy="0"/>
          </a:xfrm>
          <a:prstGeom prst="line">
            <a:avLst/>
          </a:prstGeom>
          <a:noFill/>
          <a:ln w="22225">
            <a:solidFill>
              <a:srgbClr val="4B2C7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99" name="Shape 81">
            <a:extLst>
              <a:ext uri="{FF2B5EF4-FFF2-40B4-BE49-F238E27FC236}">
                <a16:creationId xmlns:a16="http://schemas.microsoft.com/office/drawing/2014/main" id="{AB577FF7-9482-554A-F45B-F1CE096217E3}"/>
              </a:ext>
            </a:extLst>
          </p:cNvPr>
          <p:cNvSpPr/>
          <p:nvPr/>
        </p:nvSpPr>
        <p:spPr>
          <a:xfrm>
            <a:off x="5626608" y="4233672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3" name="Text 82">
            <a:extLst>
              <a:ext uri="{FF2B5EF4-FFF2-40B4-BE49-F238E27FC236}">
                <a16:creationId xmlns:a16="http://schemas.microsoft.com/office/drawing/2014/main" id="{8FEFD4C2-CFB6-D8C9-32C0-F659B70B0DF5}"/>
              </a:ext>
            </a:extLst>
          </p:cNvPr>
          <p:cNvSpPr/>
          <p:nvPr/>
        </p:nvSpPr>
        <p:spPr>
          <a:xfrm>
            <a:off x="5654040" y="4233672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Escalate</a:t>
            </a:r>
            <a:endParaRPr lang="en-US" sz="1000" dirty="0"/>
          </a:p>
        </p:txBody>
      </p:sp>
      <p:sp>
        <p:nvSpPr>
          <p:cNvPr id="1007" name="Shape 83">
            <a:extLst>
              <a:ext uri="{FF2B5EF4-FFF2-40B4-BE49-F238E27FC236}">
                <a16:creationId xmlns:a16="http://schemas.microsoft.com/office/drawing/2014/main" id="{141C0527-BAC8-FFDF-E445-82EA5C688240}"/>
              </a:ext>
            </a:extLst>
          </p:cNvPr>
          <p:cNvSpPr/>
          <p:nvPr/>
        </p:nvSpPr>
        <p:spPr>
          <a:xfrm>
            <a:off x="6711696" y="4462272"/>
            <a:ext cx="283464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1" name="Shape 84">
            <a:extLst>
              <a:ext uri="{FF2B5EF4-FFF2-40B4-BE49-F238E27FC236}">
                <a16:creationId xmlns:a16="http://schemas.microsoft.com/office/drawing/2014/main" id="{4C43DB4F-7C65-BA14-091E-51D43C164430}"/>
              </a:ext>
            </a:extLst>
          </p:cNvPr>
          <p:cNvSpPr/>
          <p:nvPr/>
        </p:nvSpPr>
        <p:spPr>
          <a:xfrm>
            <a:off x="6940296" y="4407408"/>
            <a:ext cx="109728" cy="109728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5" name="Shape 85">
            <a:extLst>
              <a:ext uri="{FF2B5EF4-FFF2-40B4-BE49-F238E27FC236}">
                <a16:creationId xmlns:a16="http://schemas.microsoft.com/office/drawing/2014/main" id="{76080BD7-DD89-4DEF-16B2-CB5F6D66CA08}"/>
              </a:ext>
            </a:extLst>
          </p:cNvPr>
          <p:cNvSpPr/>
          <p:nvPr/>
        </p:nvSpPr>
        <p:spPr>
          <a:xfrm>
            <a:off x="7406640" y="4114800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AE4F2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9" name="Text 86">
            <a:extLst>
              <a:ext uri="{FF2B5EF4-FFF2-40B4-BE49-F238E27FC236}">
                <a16:creationId xmlns:a16="http://schemas.microsoft.com/office/drawing/2014/main" id="{876C0EBF-EF11-0EBC-5F79-DFAE36CF673A}"/>
              </a:ext>
            </a:extLst>
          </p:cNvPr>
          <p:cNvSpPr/>
          <p:nvPr/>
        </p:nvSpPr>
        <p:spPr>
          <a:xfrm>
            <a:off x="7461504" y="411480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· Comments</a:t>
            </a:r>
            <a:endParaRPr lang="en-US" sz="1000" dirty="0"/>
          </a:p>
        </p:txBody>
      </p:sp>
      <p:sp>
        <p:nvSpPr>
          <p:cNvPr id="1023" name="Shape 87">
            <a:extLst>
              <a:ext uri="{FF2B5EF4-FFF2-40B4-BE49-F238E27FC236}">
                <a16:creationId xmlns:a16="http://schemas.microsoft.com/office/drawing/2014/main" id="{BA5863EF-DE8C-CB55-3FFD-8742A137DD24}"/>
              </a:ext>
            </a:extLst>
          </p:cNvPr>
          <p:cNvSpPr/>
          <p:nvPr/>
        </p:nvSpPr>
        <p:spPr>
          <a:xfrm>
            <a:off x="7406640" y="4517136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EAE4F2"/>
          </a:solidFill>
          <a:ln w="15875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7" name="Text 88">
            <a:extLst>
              <a:ext uri="{FF2B5EF4-FFF2-40B4-BE49-F238E27FC236}">
                <a16:creationId xmlns:a16="http://schemas.microsoft.com/office/drawing/2014/main" id="{645BE5EE-C06C-9256-25A3-FB42869C22A9}"/>
              </a:ext>
            </a:extLst>
          </p:cNvPr>
          <p:cNvSpPr/>
          <p:nvPr/>
        </p:nvSpPr>
        <p:spPr>
          <a:xfrm>
            <a:off x="7461504" y="4517136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2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· Implementation</a:t>
            </a:r>
            <a:endParaRPr lang="en-US" sz="1000" dirty="0"/>
          </a:p>
        </p:txBody>
      </p:sp>
      <p:sp>
        <p:nvSpPr>
          <p:cNvPr id="1031" name="Shape 89">
            <a:extLst>
              <a:ext uri="{FF2B5EF4-FFF2-40B4-BE49-F238E27FC236}">
                <a16:creationId xmlns:a16="http://schemas.microsoft.com/office/drawing/2014/main" id="{CA149298-EBA0-3C7C-2CBE-664FF0D1FEF8}"/>
              </a:ext>
            </a:extLst>
          </p:cNvPr>
          <p:cNvSpPr/>
          <p:nvPr/>
        </p:nvSpPr>
        <p:spPr>
          <a:xfrm>
            <a:off x="9738360" y="4270248"/>
            <a:ext cx="100584" cy="100584"/>
          </a:xfrm>
          <a:prstGeom prst="ellipse">
            <a:avLst/>
          </a:prstGeom>
          <a:solidFill>
            <a:srgbClr val="4B2C70"/>
          </a:solidFill>
          <a:ln w="12700">
            <a:solidFill>
              <a:srgbClr val="4B2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5" name="Text 90">
            <a:extLst>
              <a:ext uri="{FF2B5EF4-FFF2-40B4-BE49-F238E27FC236}">
                <a16:creationId xmlns:a16="http://schemas.microsoft.com/office/drawing/2014/main" id="{6FE366B4-5128-A754-5E85-31317659071D}"/>
              </a:ext>
            </a:extLst>
          </p:cNvPr>
          <p:cNvSpPr/>
          <p:nvPr/>
        </p:nvSpPr>
        <p:spPr>
          <a:xfrm>
            <a:off x="9921240" y="4187952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department view</a:t>
            </a:r>
            <a:endParaRPr lang="en-US" sz="1050" dirty="0"/>
          </a:p>
        </p:txBody>
      </p:sp>
      <p:sp>
        <p:nvSpPr>
          <p:cNvPr id="1039" name="Shape 91">
            <a:extLst>
              <a:ext uri="{FF2B5EF4-FFF2-40B4-BE49-F238E27FC236}">
                <a16:creationId xmlns:a16="http://schemas.microsoft.com/office/drawing/2014/main" id="{627D7D2B-89E0-555C-CE5D-DD4FF68A7910}"/>
              </a:ext>
            </a:extLst>
          </p:cNvPr>
          <p:cNvSpPr/>
          <p:nvPr/>
        </p:nvSpPr>
        <p:spPr>
          <a:xfrm>
            <a:off x="9738360" y="4544568"/>
            <a:ext cx="100584" cy="100584"/>
          </a:xfrm>
          <a:prstGeom prst="ellipse">
            <a:avLst/>
          </a:prstGeom>
          <a:solidFill>
            <a:srgbClr val="4B2C70"/>
          </a:solidFill>
          <a:ln w="12700">
            <a:solidFill>
              <a:srgbClr val="4B2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3" name="Text 92">
            <a:extLst>
              <a:ext uri="{FF2B5EF4-FFF2-40B4-BE49-F238E27FC236}">
                <a16:creationId xmlns:a16="http://schemas.microsoft.com/office/drawing/2014/main" id="{E80CFACD-4BB8-0627-4127-BEDF123B6AC8}"/>
              </a:ext>
            </a:extLst>
          </p:cNvPr>
          <p:cNvSpPr/>
          <p:nvPr/>
        </p:nvSpPr>
        <p:spPr>
          <a:xfrm>
            <a:off x="9921240" y="4462272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050" dirty="0"/>
          </a:p>
        </p:txBody>
      </p:sp>
      <p:sp>
        <p:nvSpPr>
          <p:cNvPr id="1047" name="Shape 93">
            <a:extLst>
              <a:ext uri="{FF2B5EF4-FFF2-40B4-BE49-F238E27FC236}">
                <a16:creationId xmlns:a16="http://schemas.microsoft.com/office/drawing/2014/main" id="{227A3B95-1950-48B3-A9F3-861B4590A9FD}"/>
              </a:ext>
            </a:extLst>
          </p:cNvPr>
          <p:cNvSpPr/>
          <p:nvPr/>
        </p:nvSpPr>
        <p:spPr>
          <a:xfrm>
            <a:off x="502920" y="5385816"/>
            <a:ext cx="1737360" cy="512064"/>
          </a:xfrm>
          <a:prstGeom prst="roundRect">
            <a:avLst>
              <a:gd name="adj" fmla="val 12500"/>
            </a:avLst>
          </a:prstGeom>
          <a:solidFill>
            <a:srgbClr val="E8820C"/>
          </a:solidFill>
          <a:ln w="12700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1" name="Text 94">
            <a:extLst>
              <a:ext uri="{FF2B5EF4-FFF2-40B4-BE49-F238E27FC236}">
                <a16:creationId xmlns:a16="http://schemas.microsoft.com/office/drawing/2014/main" id="{1430123A-0762-584B-BB3C-4EA6CC468C9B}"/>
              </a:ext>
            </a:extLst>
          </p:cNvPr>
          <p:cNvSpPr/>
          <p:nvPr/>
        </p:nvSpPr>
        <p:spPr>
          <a:xfrm>
            <a:off x="539496" y="538581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055" name="Text 95">
            <a:extLst>
              <a:ext uri="{FF2B5EF4-FFF2-40B4-BE49-F238E27FC236}">
                <a16:creationId xmlns:a16="http://schemas.microsoft.com/office/drawing/2014/main" id="{42989AD6-896D-CA7C-9C7C-E8E84DA40FF0}"/>
              </a:ext>
            </a:extLst>
          </p:cNvPr>
          <p:cNvSpPr/>
          <p:nvPr/>
        </p:nvSpPr>
        <p:spPr>
          <a:xfrm>
            <a:off x="502920" y="59344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4 · Shop floor</a:t>
            </a:r>
            <a:endParaRPr lang="en-US" sz="900" dirty="0"/>
          </a:p>
        </p:txBody>
      </p:sp>
      <p:sp>
        <p:nvSpPr>
          <p:cNvPr id="1059" name="Shape 96">
            <a:extLst>
              <a:ext uri="{FF2B5EF4-FFF2-40B4-BE49-F238E27FC236}">
                <a16:creationId xmlns:a16="http://schemas.microsoft.com/office/drawing/2014/main" id="{852A0BB2-2B6D-9586-DE8C-4CA8327681F2}"/>
              </a:ext>
            </a:extLst>
          </p:cNvPr>
          <p:cNvSpPr/>
          <p:nvPr/>
        </p:nvSpPr>
        <p:spPr>
          <a:xfrm>
            <a:off x="2651760" y="5760720"/>
            <a:ext cx="283464" cy="0"/>
          </a:xfrm>
          <a:prstGeom prst="line">
            <a:avLst/>
          </a:prstGeom>
          <a:noFill/>
          <a:ln w="22225">
            <a:solidFill>
              <a:srgbClr val="E8820C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63" name="Shape 97">
            <a:extLst>
              <a:ext uri="{FF2B5EF4-FFF2-40B4-BE49-F238E27FC236}">
                <a16:creationId xmlns:a16="http://schemas.microsoft.com/office/drawing/2014/main" id="{28DCC5E3-F012-76E6-E6B2-34BA93F0FFBE}"/>
              </a:ext>
            </a:extLst>
          </p:cNvPr>
          <p:cNvSpPr/>
          <p:nvPr/>
        </p:nvSpPr>
        <p:spPr>
          <a:xfrm>
            <a:off x="2962656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7" name="Text 98">
            <a:extLst>
              <a:ext uri="{FF2B5EF4-FFF2-40B4-BE49-F238E27FC236}">
                <a16:creationId xmlns:a16="http://schemas.microsoft.com/office/drawing/2014/main" id="{601F7543-7F79-A5DD-546A-64203FCBDEFD}"/>
              </a:ext>
            </a:extLst>
          </p:cNvPr>
          <p:cNvSpPr/>
          <p:nvPr/>
        </p:nvSpPr>
        <p:spPr>
          <a:xfrm>
            <a:off x="2990088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(OTP)</a:t>
            </a:r>
            <a:endParaRPr lang="en-US" sz="1000" dirty="0"/>
          </a:p>
        </p:txBody>
      </p:sp>
      <p:sp>
        <p:nvSpPr>
          <p:cNvPr id="1071" name="Shape 99">
            <a:extLst>
              <a:ext uri="{FF2B5EF4-FFF2-40B4-BE49-F238E27FC236}">
                <a16:creationId xmlns:a16="http://schemas.microsoft.com/office/drawing/2014/main" id="{5DC2E607-AA91-A9B1-0A55-C42C0694DD2B}"/>
              </a:ext>
            </a:extLst>
          </p:cNvPr>
          <p:cNvSpPr/>
          <p:nvPr/>
        </p:nvSpPr>
        <p:spPr>
          <a:xfrm>
            <a:off x="4047744" y="5760720"/>
            <a:ext cx="219456" cy="0"/>
          </a:xfrm>
          <a:prstGeom prst="line">
            <a:avLst/>
          </a:prstGeom>
          <a:noFill/>
          <a:ln w="22225">
            <a:solidFill>
              <a:srgbClr val="A25B0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75" name="Shape 100">
            <a:extLst>
              <a:ext uri="{FF2B5EF4-FFF2-40B4-BE49-F238E27FC236}">
                <a16:creationId xmlns:a16="http://schemas.microsoft.com/office/drawing/2014/main" id="{7C74FB58-A58D-A31C-D596-655425EFB286}"/>
              </a:ext>
            </a:extLst>
          </p:cNvPr>
          <p:cNvSpPr/>
          <p:nvPr/>
        </p:nvSpPr>
        <p:spPr>
          <a:xfrm>
            <a:off x="4294632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9" name="Text 101">
            <a:extLst>
              <a:ext uri="{FF2B5EF4-FFF2-40B4-BE49-F238E27FC236}">
                <a16:creationId xmlns:a16="http://schemas.microsoft.com/office/drawing/2014/main" id="{4E215F10-0E37-EB70-E9A8-0DD9E482F382}"/>
              </a:ext>
            </a:extLst>
          </p:cNvPr>
          <p:cNvSpPr/>
          <p:nvPr/>
        </p:nvSpPr>
        <p:spPr>
          <a:xfrm>
            <a:off x="4322064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Idea</a:t>
            </a:r>
            <a:endParaRPr lang="en-US" sz="1000" dirty="0"/>
          </a:p>
        </p:txBody>
      </p:sp>
      <p:sp>
        <p:nvSpPr>
          <p:cNvPr id="1083" name="Shape 102">
            <a:extLst>
              <a:ext uri="{FF2B5EF4-FFF2-40B4-BE49-F238E27FC236}">
                <a16:creationId xmlns:a16="http://schemas.microsoft.com/office/drawing/2014/main" id="{D83E2E4D-5752-36E5-8B33-F10DD28C02B9}"/>
              </a:ext>
            </a:extLst>
          </p:cNvPr>
          <p:cNvSpPr/>
          <p:nvPr/>
        </p:nvSpPr>
        <p:spPr>
          <a:xfrm>
            <a:off x="5379720" y="5760720"/>
            <a:ext cx="219456" cy="0"/>
          </a:xfrm>
          <a:prstGeom prst="line">
            <a:avLst/>
          </a:prstGeom>
          <a:noFill/>
          <a:ln w="22225">
            <a:solidFill>
              <a:srgbClr val="A25B0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87" name="Shape 103">
            <a:extLst>
              <a:ext uri="{FF2B5EF4-FFF2-40B4-BE49-F238E27FC236}">
                <a16:creationId xmlns:a16="http://schemas.microsoft.com/office/drawing/2014/main" id="{F4C2ECAA-009F-8F29-672B-9D09398A3860}"/>
              </a:ext>
            </a:extLst>
          </p:cNvPr>
          <p:cNvSpPr/>
          <p:nvPr/>
        </p:nvSpPr>
        <p:spPr>
          <a:xfrm>
            <a:off x="5626608" y="5532120"/>
            <a:ext cx="105765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22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1" name="Text 104">
            <a:extLst>
              <a:ext uri="{FF2B5EF4-FFF2-40B4-BE49-F238E27FC236}">
                <a16:creationId xmlns:a16="http://schemas.microsoft.com/office/drawing/2014/main" id="{DF58FCFE-EF17-09DF-850B-08EA11431134}"/>
              </a:ext>
            </a:extLst>
          </p:cNvPr>
          <p:cNvSpPr/>
          <p:nvPr/>
        </p:nvSpPr>
        <p:spPr>
          <a:xfrm>
            <a:off x="5654040" y="5532120"/>
            <a:ext cx="1002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</a:t>
            </a:r>
            <a:endParaRPr lang="en-US" sz="1000" dirty="0"/>
          </a:p>
        </p:txBody>
      </p:sp>
      <p:sp>
        <p:nvSpPr>
          <p:cNvPr id="1095" name="Shape 105">
            <a:extLst>
              <a:ext uri="{FF2B5EF4-FFF2-40B4-BE49-F238E27FC236}">
                <a16:creationId xmlns:a16="http://schemas.microsoft.com/office/drawing/2014/main" id="{0BDA2E2B-CED8-6E6B-5ABF-6BC3A328D7CD}"/>
              </a:ext>
            </a:extLst>
          </p:cNvPr>
          <p:cNvSpPr/>
          <p:nvPr/>
        </p:nvSpPr>
        <p:spPr>
          <a:xfrm>
            <a:off x="6711696" y="5760720"/>
            <a:ext cx="283464" cy="0"/>
          </a:xfrm>
          <a:prstGeom prst="line">
            <a:avLst/>
          </a:prstGeom>
          <a:noFill/>
          <a:ln w="254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9" name="Shape 106">
            <a:extLst>
              <a:ext uri="{FF2B5EF4-FFF2-40B4-BE49-F238E27FC236}">
                <a16:creationId xmlns:a16="http://schemas.microsoft.com/office/drawing/2014/main" id="{AE0F042F-2025-485E-DAAF-F0DF1E1FEBE0}"/>
              </a:ext>
            </a:extLst>
          </p:cNvPr>
          <p:cNvSpPr/>
          <p:nvPr/>
        </p:nvSpPr>
        <p:spPr>
          <a:xfrm>
            <a:off x="6940296" y="5705856"/>
            <a:ext cx="109728" cy="109728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3" name="Shape 107">
            <a:extLst>
              <a:ext uri="{FF2B5EF4-FFF2-40B4-BE49-F238E27FC236}">
                <a16:creationId xmlns:a16="http://schemas.microsoft.com/office/drawing/2014/main" id="{6CBF637F-E11E-C88F-95FE-55CF337E57D5}"/>
              </a:ext>
            </a:extLst>
          </p:cNvPr>
          <p:cNvSpPr/>
          <p:nvPr/>
        </p:nvSpPr>
        <p:spPr>
          <a:xfrm>
            <a:off x="7406640" y="5413248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FCEEDD"/>
          </a:solidFill>
          <a:ln w="1587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7" name="Text 108">
            <a:extLst>
              <a:ext uri="{FF2B5EF4-FFF2-40B4-BE49-F238E27FC236}">
                <a16:creationId xmlns:a16="http://schemas.microsoft.com/office/drawing/2014/main" id="{9CF8FEE1-FF58-1A8D-3CC0-8E64F7259767}"/>
              </a:ext>
            </a:extLst>
          </p:cNvPr>
          <p:cNvSpPr/>
          <p:nvPr/>
        </p:nvSpPr>
        <p:spPr>
          <a:xfrm>
            <a:off x="7461504" y="541324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· Benefit · Files</a:t>
            </a:r>
            <a:endParaRPr lang="en-US" sz="1000" dirty="0"/>
          </a:p>
        </p:txBody>
      </p:sp>
      <p:sp>
        <p:nvSpPr>
          <p:cNvPr id="1111" name="Shape 109">
            <a:extLst>
              <a:ext uri="{FF2B5EF4-FFF2-40B4-BE49-F238E27FC236}">
                <a16:creationId xmlns:a16="http://schemas.microsoft.com/office/drawing/2014/main" id="{04A819AA-DF45-1EB7-1DA9-C607884AB7F0}"/>
              </a:ext>
            </a:extLst>
          </p:cNvPr>
          <p:cNvSpPr/>
          <p:nvPr/>
        </p:nvSpPr>
        <p:spPr>
          <a:xfrm>
            <a:off x="7406640" y="5815584"/>
            <a:ext cx="2057400" cy="292608"/>
          </a:xfrm>
          <a:prstGeom prst="roundRect">
            <a:avLst>
              <a:gd name="adj" fmla="val 31250"/>
            </a:avLst>
          </a:prstGeom>
          <a:solidFill>
            <a:srgbClr val="FCEEDD"/>
          </a:solidFill>
          <a:ln w="15875">
            <a:solidFill>
              <a:srgbClr val="E882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5" name="Text 110">
            <a:extLst>
              <a:ext uri="{FF2B5EF4-FFF2-40B4-BE49-F238E27FC236}">
                <a16:creationId xmlns:a16="http://schemas.microsoft.com/office/drawing/2014/main" id="{745F3E8C-F92F-3A90-A9D8-4807E4318B7E}"/>
              </a:ext>
            </a:extLst>
          </p:cNvPr>
          <p:cNvSpPr/>
          <p:nvPr/>
        </p:nvSpPr>
        <p:spPr>
          <a:xfrm>
            <a:off x="7461504" y="581558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25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· Votes</a:t>
            </a:r>
            <a:endParaRPr lang="en-US" sz="1000" dirty="0"/>
          </a:p>
        </p:txBody>
      </p:sp>
      <p:sp>
        <p:nvSpPr>
          <p:cNvPr id="1119" name="Shape 111">
            <a:extLst>
              <a:ext uri="{FF2B5EF4-FFF2-40B4-BE49-F238E27FC236}">
                <a16:creationId xmlns:a16="http://schemas.microsoft.com/office/drawing/2014/main" id="{F55FF233-2667-AE5B-03E3-5D1F15A3D7FC}"/>
              </a:ext>
            </a:extLst>
          </p:cNvPr>
          <p:cNvSpPr/>
          <p:nvPr/>
        </p:nvSpPr>
        <p:spPr>
          <a:xfrm>
            <a:off x="9738360" y="5568696"/>
            <a:ext cx="100584" cy="100584"/>
          </a:xfrm>
          <a:prstGeom prst="ellipse">
            <a:avLst/>
          </a:prstGeom>
          <a:solidFill>
            <a:srgbClr val="A25B08"/>
          </a:solidFill>
          <a:ln w="12700">
            <a:solidFill>
              <a:srgbClr val="A25B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3" name="Text 112">
            <a:extLst>
              <a:ext uri="{FF2B5EF4-FFF2-40B4-BE49-F238E27FC236}">
                <a16:creationId xmlns:a16="http://schemas.microsoft.com/office/drawing/2014/main" id="{C609B70D-6C88-9802-3B5D-4D289751CBAC}"/>
              </a:ext>
            </a:extLst>
          </p:cNvPr>
          <p:cNvSpPr/>
          <p:nvPr/>
        </p:nvSpPr>
        <p:spPr>
          <a:xfrm>
            <a:off x="9921240" y="5486400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ideas and points</a:t>
            </a:r>
            <a:endParaRPr lang="en-US" sz="1050" dirty="0"/>
          </a:p>
        </p:txBody>
      </p:sp>
      <p:sp>
        <p:nvSpPr>
          <p:cNvPr id="1127" name="Shape 113">
            <a:extLst>
              <a:ext uri="{FF2B5EF4-FFF2-40B4-BE49-F238E27FC236}">
                <a16:creationId xmlns:a16="http://schemas.microsoft.com/office/drawing/2014/main" id="{69A0FD5F-2D05-B79A-4017-44595D8A31E3}"/>
              </a:ext>
            </a:extLst>
          </p:cNvPr>
          <p:cNvSpPr/>
          <p:nvPr/>
        </p:nvSpPr>
        <p:spPr>
          <a:xfrm>
            <a:off x="9738360" y="5843016"/>
            <a:ext cx="100584" cy="10058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1" name="Text 114">
            <a:extLst>
              <a:ext uri="{FF2B5EF4-FFF2-40B4-BE49-F238E27FC236}">
                <a16:creationId xmlns:a16="http://schemas.microsoft.com/office/drawing/2014/main" id="{9DA51BC5-FC33-9A02-8509-270C6092CED6}"/>
              </a:ext>
            </a:extLst>
          </p:cNvPr>
          <p:cNvSpPr/>
          <p:nvPr/>
        </p:nvSpPr>
        <p:spPr>
          <a:xfrm>
            <a:off x="9921240" y="5760720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3B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export</a:t>
            </a:r>
            <a:endParaRPr lang="en-US" sz="1050" dirty="0"/>
          </a:p>
        </p:txBody>
      </p:sp>
      <p:sp>
        <p:nvSpPr>
          <p:cNvPr id="1135" name="Text 115">
            <a:extLst>
              <a:ext uri="{FF2B5EF4-FFF2-40B4-BE49-F238E27FC236}">
                <a16:creationId xmlns:a16="http://schemas.microsoft.com/office/drawing/2014/main" id="{FE8F152B-6807-A5EA-2CF2-9108E683DE7C}"/>
              </a:ext>
            </a:extLst>
          </p:cNvPr>
          <p:cNvSpPr/>
          <p:nvPr/>
        </p:nvSpPr>
        <p:spPr>
          <a:xfrm>
            <a:off x="1311215" y="6409942"/>
            <a:ext cx="10514720" cy="329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configuration flow downward · ideas and their outcomes flow upward, stopping at the boundary of each organisation’s own database.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63576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CD3F9CC3-C132-144E-55E0-A5747180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679023"/>
            <a:ext cx="8489168" cy="565944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High-Level System Architecture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57200" y="1097280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694944" y="121615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94944" y="1536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— responsive, role-based UI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139696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694944" y="2258568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8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4944" y="25786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server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3182112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694944" y="3300984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4944" y="362102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one database per organisation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4224528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94944" y="43434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94944" y="466344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 · Aiven MySQL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57200" y="5266944"/>
            <a:ext cx="2880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694944" y="5385816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94944" y="570585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JWT · bcrypt · tenant isolation</a:t>
            </a:r>
            <a:endParaRPr lang="en-US" sz="115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768C377A-2B60-F8B1-31F9-A65F31147535}"/>
              </a:ext>
            </a:extLst>
          </p:cNvPr>
          <p:cNvSpPr/>
          <p:nvPr/>
        </p:nvSpPr>
        <p:spPr>
          <a:xfrm>
            <a:off x="10136036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6EACE35C-1121-220F-6F78-DD83CBD87D85}"/>
              </a:ext>
            </a:extLst>
          </p:cNvPr>
          <p:cNvSpPr/>
          <p:nvPr/>
        </p:nvSpPr>
        <p:spPr>
          <a:xfrm>
            <a:off x="10547516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Employee Experience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needs on one screen: raise an idea, follow it up the chain, and see what it earned.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429103" y="1115568"/>
            <a:ext cx="7321603" cy="4270248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457200" y="533095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58368" y="6016752"/>
            <a:ext cx="164592" cy="16459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60120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 minutes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342132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43300" y="6016752"/>
            <a:ext cx="164592" cy="164592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845052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every step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27064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28232" y="6016752"/>
            <a:ext cx="164592" cy="164592"/>
          </a:xfrm>
          <a:prstGeom prst="ellipse">
            <a:avLst/>
          </a:prstGeom>
          <a:solidFill>
            <a:srgbClr val="158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729984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and badges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111996" y="5824728"/>
            <a:ext cx="2683764" cy="54864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313164" y="6016752"/>
            <a:ext cx="164592" cy="164592"/>
          </a:xfrm>
          <a:prstGeom prst="ellipse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614916" y="5824728"/>
            <a:ext cx="20894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board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0ED5BFB-B611-D6CB-4538-C17F1652A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295" y="1115568"/>
            <a:ext cx="7309412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Review and Approval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see exactly what is waiting on them, how long it has waited, and who it goes to next.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617667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188708" y="1133856"/>
            <a:ext cx="7802392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457200" y="5331125"/>
            <a:ext cx="5486400" cy="564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REVIEWER DOES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724144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40080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14400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queue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42132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25012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799332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comment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09944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684264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escalate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11996" y="5767275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294876" y="5977587"/>
            <a:ext cx="146304" cy="146304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569196" y="5767275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flagged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AD3EF33-F593-8B27-9868-7051378A2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0901" y="1143670"/>
            <a:ext cx="7790200" cy="4105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Organisation Analytics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ideas come from, how fast they move, and what they are worth.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11648" y="1133856"/>
            <a:ext cx="7756512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457200" y="5367010"/>
            <a:ext cx="5486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ADMIN CAN SEE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57200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40080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14400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rate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342132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3525012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3799332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rate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27064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09944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6"/>
          <p:cNvSpPr/>
          <p:nvPr/>
        </p:nvSpPr>
        <p:spPr>
          <a:xfrm>
            <a:off x="6684264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11996" y="5732770"/>
            <a:ext cx="2683764" cy="566928"/>
          </a:xfrm>
          <a:prstGeom prst="roundRect">
            <a:avLst>
              <a:gd name="adj" fmla="val 12903"/>
            </a:avLst>
          </a:prstGeom>
          <a:solidFill>
            <a:srgbClr val="F7F9FC"/>
          </a:solidFill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294876" y="5943082"/>
            <a:ext cx="146304" cy="146304"/>
          </a:xfrm>
          <a:prstGeom prst="ellipse">
            <a:avLst/>
          </a:prstGeom>
          <a:solidFill>
            <a:srgbClr val="6B3F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569196" y="5732770"/>
            <a:ext cx="21351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view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ED05D8-A9C7-5CCD-B973-F6987B9F0B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123" y="1159941"/>
            <a:ext cx="7745229" cy="41070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88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19456"/>
            <a:ext cx="1645920" cy="22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0040" y="128016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809B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Platform Console — Multi-Tenant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338328" y="713232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console to onboard organisations, set their plan and watch the health of the platform — without ever reading a customer’s ideas.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20040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49808" y="6483096"/>
            <a:ext cx="0" cy="201168"/>
          </a:xfrm>
          <a:prstGeom prst="line">
            <a:avLst/>
          </a:prstGeom>
          <a:noFill/>
          <a:ln w="1270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9144000" y="6574536"/>
            <a:ext cx="310896" cy="0"/>
          </a:xfrm>
          <a:prstGeom prst="line">
            <a:avLst/>
          </a:prstGeom>
          <a:noFill/>
          <a:ln w="19050">
            <a:solidFill>
              <a:srgbClr val="4809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555480" y="6437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80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Redefining Quality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93192" y="1170432"/>
            <a:ext cx="7656896" cy="4471416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152400" dist="50800" dir="5400000" algn="bl" rotWithShape="0">
              <a:srgbClr val="A9B3C9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7"/>
          <p:cNvSpPr/>
          <p:nvPr/>
        </p:nvSpPr>
        <p:spPr>
          <a:xfrm>
            <a:off x="457200" y="5705856"/>
            <a:ext cx="752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6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 → Organisations · plans · usage · Export to PDF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86968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869680" y="1554480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9052560" y="1865376"/>
            <a:ext cx="256032" cy="256032"/>
          </a:xfrm>
          <a:prstGeom prst="ellipse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9436608" y="16733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9436608" y="200253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Onboard, approve, suspend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869680" y="2542032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9052560" y="2852928"/>
            <a:ext cx="256032" cy="256032"/>
          </a:xfrm>
          <a:prstGeom prst="ellipse">
            <a:avLst/>
          </a:prstGeom>
          <a:solidFill>
            <a:srgbClr val="E87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9436608" y="2660904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Billing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9436608" y="2990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· Starter · Professional · Lifetime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9680" y="3529584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052560" y="3840480"/>
            <a:ext cx="256032" cy="256032"/>
          </a:xfrm>
          <a:prstGeom prst="ellipse">
            <a:avLst/>
          </a:prstGeom>
          <a:solidFill>
            <a:srgbClr val="158B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9436608" y="364845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Quotas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9436608" y="39776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users and storage per plan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869680" y="4517136"/>
            <a:ext cx="2834640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blurRad="88900" dist="38100" dir="5400000" algn="bl" rotWithShape="0">
              <a:srgbClr val="B9C2D6">
                <a:alpha val="3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9052560" y="4828032"/>
            <a:ext cx="256032" cy="256032"/>
          </a:xfrm>
          <a:prstGeom prst="ellipse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9436608" y="4636008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Health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9436608" y="4965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maintenance mode, DB checks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AAC7E4E-D81F-3ECE-2EAA-3D0C6AA23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1170432"/>
            <a:ext cx="7656896" cy="4471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18709</TotalTime>
  <Words>785</Words>
  <Application>Microsoft Office PowerPoint</Application>
  <PresentationFormat>Widescreen</PresentationFormat>
  <Paragraphs>162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</vt:lpstr>
      <vt:lpstr>Poppins</vt:lpstr>
      <vt:lpstr>Poppins Medium</vt:lpstr>
      <vt:lpstr>Poppins SemiBold</vt:lpstr>
      <vt:lpstr>Office Theme</vt:lpstr>
      <vt:lpstr>Employee Ideation Tool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IFQM Employee Ideation Tool — Overview</dc:title>
  <dc:subject>Customer presentation</dc:subject>
  <dc:creator>PptxGenJS</dc:creator>
  <dc:description>Built from V2_DWM_Overview.pptx by build_deck.py — same theme, master, layouts and design; content and artwork replaced.</dc:description>
  <cp:lastModifiedBy>yashas gowda</cp:lastModifiedBy>
  <cp:revision>6</cp:revision>
  <dcterms:created xsi:type="dcterms:W3CDTF">2026-08-05T06:38:55Z</dcterms:created>
  <dcterms:modified xsi:type="dcterms:W3CDTF">2026-08-18T20:09:58Z</dcterms:modified>
</cp:coreProperties>
</file>