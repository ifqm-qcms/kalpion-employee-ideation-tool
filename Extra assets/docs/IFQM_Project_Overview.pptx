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3761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9.png"/><Relationship Id="rId4" Type="http://schemas.openxmlformats.org/officeDocument/2006/relationships/image" Target="../media/image11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4" Type="http://schemas.openxmlformats.org/officeDocument/2006/relationships/image" Target="../media/image18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8.png"/><Relationship Id="rId9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1051560" cy="105156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25400" dir="5400000" algn="bl" rotWithShape="0">
              <a:srgbClr val="F59E0B">
                <a:alpha val="35000"/>
              </a:srgbClr>
            </a:outerShdw>
          </a:effectLst>
        </p:spPr>
      </p:sp>
      <p:pic>
        <p:nvPicPr>
          <p:cNvPr id="3" name="Image 0" descr="C:\Users\yasha\AppData\Local\Temp\claude\C--xampp-htdocs-ifqm\eb621171-b1eb-4bc6-8541-20fe7c7fc083\scratchpad\ifqm-ppt\assets\lightbulb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850" y="1040130"/>
            <a:ext cx="525780" cy="5257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IFQM  ·  EMPLOYEE IDEATION PLATFORM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77240" y="2148840"/>
            <a:ext cx="10607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every employee idea</a:t>
            </a:r>
            <a:endParaRPr lang="en-US" sz="50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measurable impact.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822960" y="434340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AI-scored, workflow-driven platform that captures ideas from every employee, routes them through the right approvers, and rewards the people behind them.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822960" y="562356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6235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395728" y="562356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5875">
            <a:solidFill>
              <a:srgbClr val="DB277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395728" y="56235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968496" y="562356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68496" y="56235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541264" y="562356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41264" y="56235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961120" y="5669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IFQM EIT?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58368" y="146304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suggestion box — </a:t>
            </a:r>
            <a:r>
              <a:rPr lang="en-US" sz="2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smarter, structured, and accountable.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58368" y="269748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IFQM EIT lets any employee describe a workplace problem and their proposed fix in a guided wizard. The system scores the idea automatically, routes it up the right approval chain, tracks it from submission to implementation, and awards points along the way — so no good idea is ever lost in an inbox again.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58368" y="48463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 idea captured, evaluated, and acted 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995160" y="1463040"/>
            <a:ext cx="45720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78040" y="1719072"/>
            <a:ext cx="603504" cy="603504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25400" dir="5400000" algn="bl" rotWithShape="0">
              <a:srgbClr val="F59E0B">
                <a:alpha val="35000"/>
              </a:srgbClr>
            </a:outerShdw>
          </a:effectLst>
        </p:spPr>
      </p:sp>
      <p:pic>
        <p:nvPicPr>
          <p:cNvPr id="9" name="Image 0" descr="C:\Users\yasha\AppData\Local\Temp\claude\C--xampp-htdocs-ifqm\eb621171-b1eb-4bc6-8541-20fe7c7fc083\scratchpad\ifqm-ppt\assets\light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0811" y="1851843"/>
            <a:ext cx="337962" cy="33796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936992" y="160934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936992" y="1920240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6-step wizard turns a rough thought into a complete, reviewable proposal.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995160" y="2706624"/>
            <a:ext cx="45720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178040" y="2962656"/>
            <a:ext cx="603504" cy="603504"/>
          </a:xfrm>
          <a:prstGeom prst="ellipse">
            <a:avLst/>
          </a:prstGeom>
          <a:solidFill>
            <a:srgbClr val="6D28D9"/>
          </a:solidFill>
          <a:ln/>
          <a:effectLst>
            <a:outerShdw blurRad="101600" dist="25400" dir="5400000" algn="bl" rotWithShape="0">
              <a:srgbClr val="6D28D9">
                <a:alpha val="35000"/>
              </a:srgbClr>
            </a:outerShdw>
          </a:effectLst>
        </p:spPr>
      </p:sp>
      <p:pic>
        <p:nvPicPr>
          <p:cNvPr id="14" name="Image 1" descr="C:\Users\yasha\AppData\Local\Temp\claude\C--xampp-htdocs-ifqm\eb621171-b1eb-4bc6-8541-20fe7c7fc083\scratchpad\ifqm-ppt\assets\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0811" y="3095427"/>
            <a:ext cx="337962" cy="33796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936992" y="28529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936992" y="3163824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scores every idea 0–100 across six quality dimensions.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995160" y="3950208"/>
            <a:ext cx="45720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178040" y="4206240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blurRad="101600" dist="25400" dir="5400000" algn="bl" rotWithShape="0">
              <a:srgbClr val="0D9488">
                <a:alpha val="35000"/>
              </a:srgbClr>
            </a:outerShdw>
          </a:effectLst>
        </p:spPr>
      </p:sp>
      <p:pic>
        <p:nvPicPr>
          <p:cNvPr id="19" name="Image 2" descr="C:\Users\yasha\AppData\Local\Temp\claude\C--xampp-htdocs-ifqm\eb621171-b1eb-4bc6-8541-20fe7c7fc083\scratchpad\ifqm-ppt\assets\site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0811" y="4339011"/>
            <a:ext cx="337962" cy="33796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936992" y="40965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7936992" y="4407408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flow through your real org hierarchy or a review committee.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995160" y="5193792"/>
            <a:ext cx="45720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178040" y="5449824"/>
            <a:ext cx="603504" cy="603504"/>
          </a:xfrm>
          <a:prstGeom prst="ellipse">
            <a:avLst/>
          </a:prstGeom>
          <a:solidFill>
            <a:srgbClr val="DB2777"/>
          </a:solidFill>
          <a:ln/>
          <a:effectLst>
            <a:outerShdw blurRad="101600" dist="25400" dir="5400000" algn="bl" rotWithShape="0">
              <a:srgbClr val="DB2777">
                <a:alpha val="35000"/>
              </a:srgbClr>
            </a:outerShdw>
          </a:effectLst>
        </p:spPr>
      </p:sp>
      <p:pic>
        <p:nvPicPr>
          <p:cNvPr id="24" name="Image 3" descr="C:\Users\yasha\AppData\Local\Temp\claude\C--xampp-htdocs-ifqm\eb621171-b1eb-4bc6-8541-20fe7c7fc083\scratchpad\ifqm-ppt\assets\troph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0811" y="5582595"/>
            <a:ext cx="337962" cy="33796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936992" y="534009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936992" y="5650992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Points, leaderboards and recognition keep people contributing.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it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5F3FB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737360"/>
            <a:ext cx="731520" cy="731520"/>
          </a:xfrm>
          <a:prstGeom prst="ellipse">
            <a:avLst/>
          </a:prstGeom>
          <a:solidFill>
            <a:srgbClr val="6D28D9"/>
          </a:solidFill>
          <a:ln/>
          <a:effectLst>
            <a:outerShdw blurRad="101600" dist="25400" dir="5400000" algn="bl" rotWithShape="0">
              <a:srgbClr val="6D28D9">
                <a:alpha val="35000"/>
              </a:srgbClr>
            </a:outerShdw>
          </a:effectLst>
        </p:spPr>
      </p:sp>
      <p:pic>
        <p:nvPicPr>
          <p:cNvPr id="6" name="Image 0" descr="C:\Users\yasha\AppData\Local\Temp\claude\C--xampp-htdocs-ifqm\eb621171-b1eb-4bc6-8541-20fe7c7fc083\scratchpad\ifqm-ppt\assets\lightbulb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19202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481328"/>
            <a:ext cx="932688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b="1" i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 organisation has people with great ideas — and no clear way to surface them.”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58368" y="3108960"/>
            <a:ext cx="3401568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78408" y="3429000"/>
            <a:ext cx="777240" cy="777240"/>
          </a:xfrm>
          <a:prstGeom prst="ellipse">
            <a:avLst/>
          </a:prstGeom>
          <a:solidFill>
            <a:srgbClr val="DB2777"/>
          </a:solidFill>
          <a:ln/>
          <a:effectLst>
            <a:outerShdw blurRad="101600" dist="25400" dir="5400000" algn="bl" rotWithShape="0">
              <a:srgbClr val="DB2777">
                <a:alpha val="35000"/>
              </a:srgbClr>
            </a:outerShdw>
          </a:effectLst>
        </p:spPr>
      </p:sp>
      <p:pic>
        <p:nvPicPr>
          <p:cNvPr id="10" name="Image 1" descr="C:\Users\yasha\AppData\Local\Temp\claude\C--xampp-htdocs-ifqm\eb621171-b1eb-4bc6-8541-20fe7c7fc083\scratchpad\ifqm-ppt\assets\comm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4946" y="3615538"/>
            <a:ext cx="404165" cy="4041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78408" y="437083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stay invisible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978408" y="4882896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live in verbal chats, emails and notebooks. Leadership never sees most of them.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306824" y="3108960"/>
            <a:ext cx="3401568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26864" y="3429000"/>
            <a:ext cx="777240" cy="777240"/>
          </a:xfrm>
          <a:prstGeom prst="ellipse">
            <a:avLst/>
          </a:prstGeom>
          <a:solidFill>
            <a:srgbClr val="EA580C"/>
          </a:solidFill>
          <a:ln/>
          <a:effectLst>
            <a:outerShdw blurRad="101600" dist="25400" dir="5400000" algn="bl" rotWithShape="0">
              <a:srgbClr val="EA580C">
                <a:alpha val="35000"/>
              </a:srgbClr>
            </a:outerShdw>
          </a:effectLst>
        </p:spPr>
      </p:sp>
      <p:pic>
        <p:nvPicPr>
          <p:cNvPr id="15" name="Image 2" descr="C:\Users\yasha\AppData\Local\Temp\claude\C--xampp-htdocs-ifqm\eb621171-b1eb-4bc6-8541-20fe7c7fc083\scratchpad\ifqm-ppt\assets\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3402" y="3615538"/>
            <a:ext cx="404165" cy="40416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26864" y="437083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track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4626864" y="4882896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raised, an idea disappears. Nobody knows who owns it, its status, or whether it was ever actioned.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7955280" y="3108960"/>
            <a:ext cx="3401568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275320" y="3429000"/>
            <a:ext cx="777240" cy="777240"/>
          </a:xfrm>
          <a:prstGeom prst="ellipse">
            <a:avLst/>
          </a:prstGeom>
          <a:solidFill>
            <a:srgbClr val="0D9488"/>
          </a:solidFill>
          <a:ln/>
          <a:effectLst>
            <a:outerShdw blurRad="101600" dist="25400" dir="5400000" algn="bl" rotWithShape="0">
              <a:srgbClr val="0D9488">
                <a:alpha val="35000"/>
              </a:srgbClr>
            </a:outerShdw>
          </a:effectLst>
        </p:spPr>
      </p:sp>
      <p:pic>
        <p:nvPicPr>
          <p:cNvPr id="20" name="Image 3" descr="C:\Users\yasha\AppData\Local\Temp\claude\C--xampp-htdocs-ifqm\eb621171-b1eb-4bc6-8541-20fe7c7fc083\scratchpad\ifqm-ppt\assets\med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3615538"/>
            <a:ext cx="404165" cy="40416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75320" y="437083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recognition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8275320" y="4882896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effort goes unrewarded and unanswered, people simply stop contributing new ideas.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PAIN TO SOLVED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problems it solves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3401568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0976" y="1755648"/>
            <a:ext cx="658368" cy="658368"/>
          </a:xfrm>
          <a:prstGeom prst="ellipse">
            <a:avLst/>
          </a:prstGeom>
          <a:solidFill>
            <a:srgbClr val="6D28D9"/>
          </a:solidFill>
          <a:ln/>
          <a:effectLst>
            <a:outerShdw blurRad="101600" dist="25400" dir="5400000" algn="bl" rotWithShape="0">
              <a:srgbClr val="6D28D9">
                <a:alpha val="35000"/>
              </a:srgbClr>
            </a:outerShdw>
          </a:effectLst>
        </p:spPr>
      </p:sp>
      <p:pic>
        <p:nvPicPr>
          <p:cNvPr id="6" name="Image 0" descr="C:\Users\yasha\AppData\Local\Temp\claude\C--xampp-htdocs-ifqm\eb621171-b1eb-4bc6-8541-20fe7c7fc083\scratchpad\ifqm-ppt\assets\paperpla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401" y="1907073"/>
            <a:ext cx="355519" cy="3555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55648" y="1792224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get lost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50976" y="256032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wizard captures every idea as a complete, structured, searchable record.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06824" y="1481328"/>
            <a:ext cx="3401568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9432" y="1755648"/>
            <a:ext cx="658368" cy="658368"/>
          </a:xfrm>
          <a:prstGeom prst="ellipse">
            <a:avLst/>
          </a:prstGeom>
          <a:solidFill>
            <a:srgbClr val="DB2777"/>
          </a:solidFill>
          <a:ln/>
          <a:effectLst>
            <a:outerShdw blurRad="101600" dist="25400" dir="5400000" algn="bl" rotWithShape="0">
              <a:srgbClr val="DB2777">
                <a:alpha val="35000"/>
              </a:srgbClr>
            </a:outerShdw>
          </a:effectLst>
        </p:spPr>
      </p:sp>
      <p:pic>
        <p:nvPicPr>
          <p:cNvPr id="11" name="Image 1" descr="C:\Users\yasha\AppData\Local\Temp\claude\C--xampp-htdocs-ifqm\eb621171-b1eb-4bc6-8541-20fe7c7fc083\scratchpad\ifqm-ppt\assets\bal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0857" y="1907073"/>
            <a:ext cx="355519" cy="3555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04104" y="1792224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Unfair / slow reviews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9432" y="256032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approval chains and SLAs make routing consistent, timed, and transparent.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955280" y="1481328"/>
            <a:ext cx="3401568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47888" y="1755648"/>
            <a:ext cx="658368" cy="658368"/>
          </a:xfrm>
          <a:prstGeom prst="ellipse">
            <a:avLst/>
          </a:prstGeom>
          <a:solidFill>
            <a:srgbClr val="0D9488"/>
          </a:solidFill>
          <a:ln/>
          <a:effectLst>
            <a:outerShdw blurRad="101600" dist="25400" dir="5400000" algn="bl" rotWithShape="0">
              <a:srgbClr val="0D9488">
                <a:alpha val="35000"/>
              </a:srgbClr>
            </a:outerShdw>
          </a:effectLst>
        </p:spPr>
      </p:sp>
      <p:pic>
        <p:nvPicPr>
          <p:cNvPr id="16" name="Image 2" descr="C:\Users\yasha\AppData\Local\Temp\claude\C--xampp-htdocs-ifqm\eb621171-b1eb-4bc6-8541-20fe7c7fc083\scratchpad\ifqm-ppt\assets\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9313" y="1907073"/>
            <a:ext cx="355519" cy="3555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52560" y="1792224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visibility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47888" y="256032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dashboards, status tracking and an append-only audit log show exactly what happened.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58368" y="3877056"/>
            <a:ext cx="3401568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50976" y="4151376"/>
            <a:ext cx="658368" cy="658368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25400" dir="5400000" algn="bl" rotWithShape="0">
              <a:srgbClr val="F59E0B">
                <a:alpha val="35000"/>
              </a:srgbClr>
            </a:outerShdw>
          </a:effectLst>
        </p:spPr>
      </p:sp>
      <p:pic>
        <p:nvPicPr>
          <p:cNvPr id="21" name="Image 3" descr="C:\Users\yasha\AppData\Local\Temp\claude\C--xampp-htdocs-ifqm\eb621171-b1eb-4bc6-8541-20fe7c7fc083\scratchpad\ifqm-ppt\assets\br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401" y="4302801"/>
            <a:ext cx="355519" cy="35551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55648" y="4187952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prioritise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50976" y="4956048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scores rank ideas by quality so reviewers focus on the best ones first.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06824" y="3877056"/>
            <a:ext cx="3401568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9432" y="4151376"/>
            <a:ext cx="658368" cy="658368"/>
          </a:xfrm>
          <a:prstGeom prst="ellipse">
            <a:avLst/>
          </a:prstGeom>
          <a:solidFill>
            <a:srgbClr val="EA580C"/>
          </a:solidFill>
          <a:ln/>
          <a:effectLst>
            <a:outerShdw blurRad="101600" dist="25400" dir="5400000" algn="bl" rotWithShape="0">
              <a:srgbClr val="EA580C">
                <a:alpha val="35000"/>
              </a:srgbClr>
            </a:outerShdw>
          </a:effectLst>
        </p:spPr>
      </p:sp>
      <p:pic>
        <p:nvPicPr>
          <p:cNvPr id="26" name="Image 4" descr="C:\Users\yasha\AppData\Local\Temp\claude\C--xampp-htdocs-ifqm\eb621171-b1eb-4bc6-8541-20fe7c7fc083\scratchpad\ifqm-ppt\assets\med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0857" y="4302801"/>
            <a:ext cx="355519" cy="35551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04104" y="4187952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motivation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99432" y="4956048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Points, leaderboards and challenges reward contribution and sustain engagement.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7955280" y="3877056"/>
            <a:ext cx="3401568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47888" y="4151376"/>
            <a:ext cx="658368" cy="658368"/>
          </a:xfrm>
          <a:prstGeom prst="ellipse">
            <a:avLst/>
          </a:prstGeom>
          <a:solidFill>
            <a:srgbClr val="059669"/>
          </a:solidFill>
          <a:ln/>
          <a:effectLst>
            <a:outerShdw blurRad="101600" dist="25400" dir="5400000" algn="bl" rotWithShape="0">
              <a:srgbClr val="059669">
                <a:alpha val="35000"/>
              </a:srgbClr>
            </a:outerShdw>
          </a:effectLst>
        </p:spPr>
      </p:sp>
      <p:pic>
        <p:nvPicPr>
          <p:cNvPr id="31" name="Image 5" descr="C:\Users\yasha\AppData\Local\Temp\claude\C--xampp-htdocs-ifqm\eb621171-b1eb-4bc6-8541-20fe7c7fc083\scratchpad\ifqm-ppt\assets\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9313" y="4302801"/>
            <a:ext cx="355519" cy="35551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52560" y="4187952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proof of value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247888" y="4956048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and implementation tracking turn approved ideas into measured business impact.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JOURNEY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196596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9304" y="2286000"/>
            <a:ext cx="822960" cy="822960"/>
          </a:xfrm>
          <a:prstGeom prst="ellipse">
            <a:avLst/>
          </a:prstGeom>
          <a:solidFill>
            <a:srgbClr val="6D28D9"/>
          </a:solidFill>
          <a:ln/>
          <a:effectLst>
            <a:outerShdw blurRad="101600" dist="25400" dir="5400000" algn="bl" rotWithShape="0">
              <a:srgbClr val="6D28D9">
                <a:alpha val="35000"/>
              </a:srgbClr>
            </a:outerShdw>
          </a:effectLst>
        </p:spPr>
      </p:sp>
      <p:pic>
        <p:nvPicPr>
          <p:cNvPr id="6" name="Image 0" descr="C:\Users\yasha\AppData\Local\Temp\claude\C--xampp-htdocs-ifqm\eb621171-b1eb-4bc6-8541-20fe7c7fc083\scratchpad\ifqm-ppt\assets\paperpla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6814" y="24835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10512" y="2148840"/>
            <a:ext cx="402336" cy="402336"/>
          </a:xfrm>
          <a:prstGeom prst="ellipse">
            <a:avLst/>
          </a:prstGeom>
          <a:solidFill>
            <a:srgbClr val="1A1330"/>
          </a:solidFill>
          <a:ln/>
        </p:spPr>
      </p:sp>
      <p:sp>
        <p:nvSpPr>
          <p:cNvPr id="8" name="Text 5"/>
          <p:cNvSpPr/>
          <p:nvPr/>
        </p:nvSpPr>
        <p:spPr>
          <a:xfrm>
            <a:off x="1810512" y="21488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95528" y="3264408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41248" y="3749040"/>
            <a:ext cx="171907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8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describes the problem, solution, impact &amp; business case in a guided wizard.</a:t>
            </a:r>
            <a:endParaRPr lang="en-US" sz="1180" dirty="0"/>
          </a:p>
        </p:txBody>
      </p:sp>
      <p:sp>
        <p:nvSpPr>
          <p:cNvPr id="11" name="Text 8"/>
          <p:cNvSpPr/>
          <p:nvPr/>
        </p:nvSpPr>
        <p:spPr>
          <a:xfrm>
            <a:off x="2688336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2880360" y="196596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11296" y="2286000"/>
            <a:ext cx="822960" cy="822960"/>
          </a:xfrm>
          <a:prstGeom prst="ellipse">
            <a:avLst/>
          </a:prstGeom>
          <a:solidFill>
            <a:srgbClr val="DB2777"/>
          </a:solidFill>
          <a:ln/>
          <a:effectLst>
            <a:outerShdw blurRad="101600" dist="25400" dir="5400000" algn="bl" rotWithShape="0">
              <a:srgbClr val="DB2777">
                <a:alpha val="35000"/>
              </a:srgbClr>
            </a:outerShdw>
          </a:effectLst>
        </p:spPr>
      </p:sp>
      <p:pic>
        <p:nvPicPr>
          <p:cNvPr id="14" name="Image 1" descr="C:\Users\yasha\AppData\Local\Temp\claude\C--xampp-htdocs-ifqm\eb621171-b1eb-4bc6-8541-20fe7c7fc083\scratchpad\ifqm-ppt\assets\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8806" y="2483510"/>
            <a:ext cx="427939" cy="427939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032504" y="2148840"/>
            <a:ext cx="402336" cy="402336"/>
          </a:xfrm>
          <a:prstGeom prst="ellipse">
            <a:avLst/>
          </a:prstGeom>
          <a:solidFill>
            <a:srgbClr val="1A1330"/>
          </a:solidFill>
          <a:ln/>
        </p:spPr>
      </p:sp>
      <p:sp>
        <p:nvSpPr>
          <p:cNvPr id="16" name="Text 12"/>
          <p:cNvSpPr/>
          <p:nvPr/>
        </p:nvSpPr>
        <p:spPr>
          <a:xfrm>
            <a:off x="4032504" y="21488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017520" y="3264408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Score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063240" y="3749040"/>
            <a:ext cx="171907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8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is instantly scored 0–100 across six dimensions; duplicates are flagged live.</a:t>
            </a:r>
            <a:endParaRPr lang="en-US" sz="1180" dirty="0"/>
          </a:p>
        </p:txBody>
      </p:sp>
      <p:sp>
        <p:nvSpPr>
          <p:cNvPr id="19" name="Text 15"/>
          <p:cNvSpPr/>
          <p:nvPr/>
        </p:nvSpPr>
        <p:spPr>
          <a:xfrm>
            <a:off x="4910328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0" name="Shape 16"/>
          <p:cNvSpPr/>
          <p:nvPr/>
        </p:nvSpPr>
        <p:spPr>
          <a:xfrm>
            <a:off x="5102352" y="196596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733288" y="2286000"/>
            <a:ext cx="822960" cy="822960"/>
          </a:xfrm>
          <a:prstGeom prst="ellipse">
            <a:avLst/>
          </a:prstGeom>
          <a:solidFill>
            <a:srgbClr val="0D9488"/>
          </a:solidFill>
          <a:ln/>
          <a:effectLst>
            <a:outerShdw blurRad="101600" dist="25400" dir="5400000" algn="bl" rotWithShape="0">
              <a:srgbClr val="0D9488">
                <a:alpha val="35000"/>
              </a:srgbClr>
            </a:outerShdw>
          </a:effectLst>
        </p:spPr>
      </p:sp>
      <p:pic>
        <p:nvPicPr>
          <p:cNvPr id="22" name="Image 2" descr="C:\Users\yasha\AppData\Local\Temp\claude\C--xampp-htdocs-ifqm\eb621171-b1eb-4bc6-8541-20fe7c7fc083\scratchpad\ifqm-ppt\assets\site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0798" y="2483510"/>
            <a:ext cx="427939" cy="427939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254496" y="2148840"/>
            <a:ext cx="402336" cy="402336"/>
          </a:xfrm>
          <a:prstGeom prst="ellipse">
            <a:avLst/>
          </a:prstGeom>
          <a:solidFill>
            <a:srgbClr val="1A1330"/>
          </a:solidFill>
          <a:ln/>
        </p:spPr>
      </p:sp>
      <p:sp>
        <p:nvSpPr>
          <p:cNvPr id="24" name="Text 19"/>
          <p:cNvSpPr/>
          <p:nvPr/>
        </p:nvSpPr>
        <p:spPr>
          <a:xfrm>
            <a:off x="6254496" y="21488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5239512" y="3264408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&amp; Review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5285232" y="3749040"/>
            <a:ext cx="171907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8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escalates up the org chain — or to a committee — with SLA timers on each reviewer.</a:t>
            </a:r>
            <a:endParaRPr lang="en-US" sz="1180" dirty="0"/>
          </a:p>
        </p:txBody>
      </p:sp>
      <p:sp>
        <p:nvSpPr>
          <p:cNvPr id="27" name="Text 22"/>
          <p:cNvSpPr/>
          <p:nvPr/>
        </p:nvSpPr>
        <p:spPr>
          <a:xfrm>
            <a:off x="713232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8" name="Shape 23"/>
          <p:cNvSpPr/>
          <p:nvPr/>
        </p:nvSpPr>
        <p:spPr>
          <a:xfrm>
            <a:off x="7324344" y="196596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7955280" y="2286000"/>
            <a:ext cx="822960" cy="822960"/>
          </a:xfrm>
          <a:prstGeom prst="ellipse">
            <a:avLst/>
          </a:prstGeom>
          <a:solidFill>
            <a:srgbClr val="059669"/>
          </a:solidFill>
          <a:ln/>
          <a:effectLst>
            <a:outerShdw blurRad="101600" dist="25400" dir="5400000" algn="bl" rotWithShape="0">
              <a:srgbClr val="059669">
                <a:alpha val="35000"/>
              </a:srgbClr>
            </a:outerShdw>
          </a:effectLst>
        </p:spPr>
      </p:sp>
      <p:pic>
        <p:nvPicPr>
          <p:cNvPr id="30" name="Image 3" descr="C:\Users\yasha\AppData\Local\Temp\claude\C--xampp-htdocs-ifqm\eb621171-b1eb-4bc6-8541-20fe7c7fc083\scratchpad\ifqm-ppt\assets\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2790" y="2483510"/>
            <a:ext cx="427939" cy="427939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8476488" y="2148840"/>
            <a:ext cx="402336" cy="402336"/>
          </a:xfrm>
          <a:prstGeom prst="ellipse">
            <a:avLst/>
          </a:prstGeom>
          <a:solidFill>
            <a:srgbClr val="1A1330"/>
          </a:solidFill>
          <a:ln/>
        </p:spPr>
      </p:sp>
      <p:sp>
        <p:nvSpPr>
          <p:cNvPr id="32" name="Text 26"/>
          <p:cNvSpPr/>
          <p:nvPr/>
        </p:nvSpPr>
        <p:spPr>
          <a:xfrm>
            <a:off x="8476488" y="21488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7461504" y="3264408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7507224" y="3749040"/>
            <a:ext cx="171907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8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reject or implement — the submitter is notified at every step.</a:t>
            </a:r>
            <a:endParaRPr lang="en-US" sz="1180" dirty="0"/>
          </a:p>
        </p:txBody>
      </p:sp>
      <p:sp>
        <p:nvSpPr>
          <p:cNvPr id="35" name="Text 29"/>
          <p:cNvSpPr/>
          <p:nvPr/>
        </p:nvSpPr>
        <p:spPr>
          <a:xfrm>
            <a:off x="9354312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36" name="Shape 30"/>
          <p:cNvSpPr/>
          <p:nvPr/>
        </p:nvSpPr>
        <p:spPr>
          <a:xfrm>
            <a:off x="9546336" y="196596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10177272" y="2286000"/>
            <a:ext cx="822960" cy="82296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25400" dir="5400000" algn="bl" rotWithShape="0">
              <a:srgbClr val="F59E0B">
                <a:alpha val="35000"/>
              </a:srgbClr>
            </a:outerShdw>
          </a:effectLst>
        </p:spPr>
      </p:sp>
      <p:pic>
        <p:nvPicPr>
          <p:cNvPr id="38" name="Image 4" descr="C:\Users\yasha\AppData\Local\Temp\claude\C--xampp-htdocs-ifqm\eb621171-b1eb-4bc6-8541-20fe7c7fc083\scratchpad\ifqm-ppt\assets\troph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74782" y="2483510"/>
            <a:ext cx="427939" cy="427939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10698480" y="2148840"/>
            <a:ext cx="402336" cy="402336"/>
          </a:xfrm>
          <a:prstGeom prst="ellipse">
            <a:avLst/>
          </a:prstGeom>
          <a:solidFill>
            <a:srgbClr val="1A1330"/>
          </a:solidFill>
          <a:ln/>
        </p:spPr>
      </p:sp>
      <p:sp>
        <p:nvSpPr>
          <p:cNvPr id="40" name="Text 33"/>
          <p:cNvSpPr/>
          <p:nvPr/>
        </p:nvSpPr>
        <p:spPr>
          <a:xfrm>
            <a:off x="10698480" y="21488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1" name="Text 34"/>
          <p:cNvSpPr/>
          <p:nvPr/>
        </p:nvSpPr>
        <p:spPr>
          <a:xfrm>
            <a:off x="9683496" y="3264408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&amp; Track</a:t>
            </a:r>
            <a:endParaRPr lang="en-US" sz="1600" dirty="0"/>
          </a:p>
        </p:txBody>
      </p:sp>
      <p:sp>
        <p:nvSpPr>
          <p:cNvPr id="42" name="Text 35"/>
          <p:cNvSpPr/>
          <p:nvPr/>
        </p:nvSpPr>
        <p:spPr>
          <a:xfrm>
            <a:off x="9729216" y="3749040"/>
            <a:ext cx="171907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8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are awarded; ROI and implementation are tracked to completion.</a:t>
            </a:r>
            <a:endParaRPr lang="en-US" sz="1180" dirty="0"/>
          </a:p>
        </p:txBody>
      </p:sp>
      <p:sp>
        <p:nvSpPr>
          <p:cNvPr id="43" name="Text 36"/>
          <p:cNvSpPr/>
          <p:nvPr/>
        </p:nvSpPr>
        <p:spPr>
          <a:xfrm>
            <a:off x="658368" y="58064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transition is logged, notified, and reversible by an authorised reviewer.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 · 1 OF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employee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819656"/>
            <a:ext cx="548640" cy="548640"/>
          </a:xfrm>
          <a:prstGeom prst="ellipse">
            <a:avLst/>
          </a:prstGeom>
          <a:solidFill>
            <a:srgbClr val="6D28D9"/>
          </a:solidFill>
          <a:ln/>
          <a:effectLst>
            <a:outerShdw blurRad="101600" dist="25400" dir="5400000" algn="bl" rotWithShape="0">
              <a:srgbClr val="6D28D9">
                <a:alpha val="35000"/>
              </a:srgbClr>
            </a:outerShdw>
          </a:effectLst>
        </p:spPr>
      </p:sp>
      <p:pic>
        <p:nvPicPr>
          <p:cNvPr id="6" name="Image 0" descr="C:\Users\yasha\AppData\Local\Temp\claude\C--xampp-htdocs-ifqm\eb621171-b1eb-4bc6-8541-20fe7c7fc083\scratchpad\ifqm-ppt\assets\paperpla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011" y="1945843"/>
            <a:ext cx="296266" cy="2962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18488" y="1728216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6-step wizard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18488" y="20574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3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→ solution → business case → attachments → co-suggesters → review.</a:t>
            </a:r>
            <a:endParaRPr lang="en-US" sz="1130" dirty="0"/>
          </a:p>
        </p:txBody>
      </p:sp>
      <p:sp>
        <p:nvSpPr>
          <p:cNvPr id="9" name="Shape 6"/>
          <p:cNvSpPr/>
          <p:nvPr/>
        </p:nvSpPr>
        <p:spPr>
          <a:xfrm>
            <a:off x="658368" y="2679192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77824" y="2898648"/>
            <a:ext cx="548640" cy="548640"/>
          </a:xfrm>
          <a:prstGeom prst="ellipse">
            <a:avLst/>
          </a:prstGeom>
          <a:solidFill>
            <a:srgbClr val="EA580C"/>
          </a:solidFill>
          <a:ln/>
          <a:effectLst>
            <a:outerShdw blurRad="101600" dist="25400" dir="5400000" algn="bl" rotWithShape="0">
              <a:srgbClr val="EA580C">
                <a:alpha val="35000"/>
              </a:srgbClr>
            </a:outerShdw>
          </a:effectLst>
        </p:spPr>
      </p:sp>
      <p:pic>
        <p:nvPicPr>
          <p:cNvPr id="11" name="Image 1" descr="C:\Users\yasha\AppData\Local\Temp\claude\C--xampp-htdocs-ifqm\eb621171-b1eb-4bc6-8541-20fe7c7fc083\scratchpad\ifqm-ppt\assets\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011" y="3024835"/>
            <a:ext cx="296266" cy="2962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18488" y="2807208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duplicate detection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618488" y="31363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3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Warns in real time if a similar idea already exists.</a:t>
            </a:r>
            <a:endParaRPr lang="en-US" sz="1130" dirty="0"/>
          </a:p>
        </p:txBody>
      </p:sp>
      <p:sp>
        <p:nvSpPr>
          <p:cNvPr id="14" name="Shape 10"/>
          <p:cNvSpPr/>
          <p:nvPr/>
        </p:nvSpPr>
        <p:spPr>
          <a:xfrm>
            <a:off x="658368" y="3758184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77824" y="3977640"/>
            <a:ext cx="548640" cy="548640"/>
          </a:xfrm>
          <a:prstGeom prst="ellipse">
            <a:avLst/>
          </a:prstGeom>
          <a:solidFill>
            <a:srgbClr val="0D9488"/>
          </a:solidFill>
          <a:ln/>
          <a:effectLst>
            <a:outerShdw blurRad="101600" dist="25400" dir="5400000" algn="bl" rotWithShape="0">
              <a:srgbClr val="0D9488">
                <a:alpha val="35000"/>
              </a:srgbClr>
            </a:outerShdw>
          </a:effectLst>
        </p:spPr>
      </p:sp>
      <p:pic>
        <p:nvPicPr>
          <p:cNvPr id="16" name="Image 2" descr="C:\Users\yasha\AppData\Local\Temp\claude\C--xampp-htdocs-ifqm\eb621171-b1eb-4bc6-8541-20fe7c7fc083\scratchpad\ifqm-ppt\assets\ey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011" y="4103827"/>
            <a:ext cx="296266" cy="2962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18488" y="3886200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submissions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618488" y="421538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3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identity from peers while staying visible to managers.</a:t>
            </a:r>
            <a:endParaRPr lang="en-US" sz="1130" dirty="0"/>
          </a:p>
        </p:txBody>
      </p:sp>
      <p:sp>
        <p:nvSpPr>
          <p:cNvPr id="19" name="Shape 14"/>
          <p:cNvSpPr/>
          <p:nvPr/>
        </p:nvSpPr>
        <p:spPr>
          <a:xfrm>
            <a:off x="6830568" y="1600200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050024" y="1819656"/>
            <a:ext cx="548640" cy="548640"/>
          </a:xfrm>
          <a:prstGeom prst="ellipse">
            <a:avLst/>
          </a:prstGeom>
          <a:solidFill>
            <a:srgbClr val="DB2777"/>
          </a:solidFill>
          <a:ln/>
          <a:effectLst>
            <a:outerShdw blurRad="101600" dist="25400" dir="5400000" algn="bl" rotWithShape="0">
              <a:srgbClr val="DB2777">
                <a:alpha val="35000"/>
              </a:srgbClr>
            </a:outerShdw>
          </a:effectLst>
        </p:spPr>
      </p:sp>
      <p:pic>
        <p:nvPicPr>
          <p:cNvPr id="21" name="Image 3" descr="C:\Users\yasha\AppData\Local\Temp\claude\C--xampp-htdocs-ifqm\eb621171-b1eb-4bc6-8541-20fe7c7fc083\scratchpad\ifqm-ppt\assets\us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6211" y="1945843"/>
            <a:ext cx="296266" cy="2962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90688" y="1728216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Co-suggesters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90688" y="20574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3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colleagues who helped shape the idea — they earn points too.</a:t>
            </a:r>
            <a:endParaRPr lang="en-US" sz="1130" dirty="0"/>
          </a:p>
        </p:txBody>
      </p:sp>
      <p:sp>
        <p:nvSpPr>
          <p:cNvPr id="24" name="Shape 18"/>
          <p:cNvSpPr/>
          <p:nvPr/>
        </p:nvSpPr>
        <p:spPr>
          <a:xfrm>
            <a:off x="6830568" y="2679192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050024" y="2898648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25400" dir="5400000" algn="bl" rotWithShape="0">
              <a:srgbClr val="F59E0B">
                <a:alpha val="35000"/>
              </a:srgbClr>
            </a:outerShdw>
          </a:effectLst>
        </p:spPr>
      </p:sp>
      <p:pic>
        <p:nvPicPr>
          <p:cNvPr id="26" name="Image 4" descr="C:\Users\yasha\AppData\Local\Temp\claude\C--xampp-htdocs-ifqm\eb621171-b1eb-4bc6-8541-20fe7c7fc083\scratchpad\ifqm-ppt\assets\bra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6211" y="3024835"/>
            <a:ext cx="296266" cy="29626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790688" y="2807208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 score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7790688" y="31363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3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 6-dimension quality breakdown the moment you submit.</a:t>
            </a:r>
            <a:endParaRPr lang="en-US" sz="1130" dirty="0"/>
          </a:p>
        </p:txBody>
      </p:sp>
      <p:sp>
        <p:nvSpPr>
          <p:cNvPr id="29" name="Shape 22"/>
          <p:cNvSpPr/>
          <p:nvPr/>
        </p:nvSpPr>
        <p:spPr>
          <a:xfrm>
            <a:off x="6830568" y="3758184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7050024" y="3977640"/>
            <a:ext cx="548640" cy="548640"/>
          </a:xfrm>
          <a:prstGeom prst="ellipse">
            <a:avLst/>
          </a:prstGeom>
          <a:solidFill>
            <a:srgbClr val="059669"/>
          </a:solidFill>
          <a:ln/>
          <a:effectLst>
            <a:outerShdw blurRad="101600" dist="25400" dir="5400000" algn="bl" rotWithShape="0">
              <a:srgbClr val="059669">
                <a:alpha val="35000"/>
              </a:srgbClr>
            </a:outerShdw>
          </a:effectLst>
        </p:spPr>
      </p:sp>
      <p:pic>
        <p:nvPicPr>
          <p:cNvPr id="31" name="Image 5" descr="C:\Users\yasha\AppData\Local\Temp\claude\C--xampp-htdocs-ifqm\eb621171-b1eb-4bc6-8541-20fe7c7fc083\scratchpad\ifqm-ppt\assets\bel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6211" y="4103827"/>
            <a:ext cx="296266" cy="29626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790688" y="3886200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notifications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790688" y="421538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3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alerted every time your idea moves through the workflow.</a:t>
            </a:r>
            <a:endParaRPr lang="en-US" sz="11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 · 2 OF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managers &amp; reviewers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819656"/>
            <a:ext cx="548640" cy="548640"/>
          </a:xfrm>
          <a:prstGeom prst="ellipse">
            <a:avLst/>
          </a:prstGeom>
          <a:solidFill>
            <a:srgbClr val="0D9488"/>
          </a:solidFill>
          <a:ln/>
          <a:effectLst>
            <a:outerShdw blurRad="101600" dist="25400" dir="5400000" algn="bl" rotWithShape="0">
              <a:srgbClr val="0D9488">
                <a:alpha val="35000"/>
              </a:srgbClr>
            </a:outerShdw>
          </a:effectLst>
        </p:spPr>
      </p:sp>
      <p:pic>
        <p:nvPicPr>
          <p:cNvPr id="6" name="Image 0" descr="C:\Users\yasha\AppData\Local\Temp\claude\C--xampp-htdocs-ifqm\eb621171-b1eb-4bc6-8541-20fe7c7fc083\scratchpad\ifqm-ppt\assets\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011" y="1945843"/>
            <a:ext cx="296266" cy="2962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18488" y="1728216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review queue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18488" y="20574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3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SLA due date (overdue flagged) then AI score.</a:t>
            </a:r>
            <a:endParaRPr lang="en-US" sz="1130" dirty="0"/>
          </a:p>
        </p:txBody>
      </p:sp>
      <p:sp>
        <p:nvSpPr>
          <p:cNvPr id="9" name="Shape 6"/>
          <p:cNvSpPr/>
          <p:nvPr/>
        </p:nvSpPr>
        <p:spPr>
          <a:xfrm>
            <a:off x="658368" y="2679192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77824" y="2898648"/>
            <a:ext cx="548640" cy="548640"/>
          </a:xfrm>
          <a:prstGeom prst="ellipse">
            <a:avLst/>
          </a:prstGeom>
          <a:solidFill>
            <a:srgbClr val="6D28D9"/>
          </a:solidFill>
          <a:ln/>
          <a:effectLst>
            <a:outerShdw blurRad="101600" dist="25400" dir="5400000" algn="bl" rotWithShape="0">
              <a:srgbClr val="6D28D9">
                <a:alpha val="35000"/>
              </a:srgbClr>
            </a:outerShdw>
          </a:effectLst>
        </p:spPr>
      </p:sp>
      <p:pic>
        <p:nvPicPr>
          <p:cNvPr id="11" name="Image 1" descr="C:\Users\yasha\AppData\Local\Temp\claude\C--xampp-htdocs-ifqm\eb621171-b1eb-4bc6-8541-20fe7c7fc083\scratchpad\ifqm-ppt\assets\site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011" y="3024835"/>
            <a:ext cx="296266" cy="2962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18488" y="2807208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chain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618488" y="31363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3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route up the hierarchy; only executives/admins give final sign-off.</a:t>
            </a:r>
            <a:endParaRPr lang="en-US" sz="1130" dirty="0"/>
          </a:p>
        </p:txBody>
      </p:sp>
      <p:sp>
        <p:nvSpPr>
          <p:cNvPr id="14" name="Shape 10"/>
          <p:cNvSpPr/>
          <p:nvPr/>
        </p:nvSpPr>
        <p:spPr>
          <a:xfrm>
            <a:off x="658368" y="3758184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77824" y="3977640"/>
            <a:ext cx="548640" cy="548640"/>
          </a:xfrm>
          <a:prstGeom prst="ellipse">
            <a:avLst/>
          </a:prstGeom>
          <a:solidFill>
            <a:srgbClr val="DB2777"/>
          </a:solidFill>
          <a:ln/>
          <a:effectLst>
            <a:outerShdw blurRad="101600" dist="25400" dir="5400000" algn="bl" rotWithShape="0">
              <a:srgbClr val="DB2777">
                <a:alpha val="35000"/>
              </a:srgbClr>
            </a:outerShdw>
          </a:effectLst>
        </p:spPr>
      </p:sp>
      <p:pic>
        <p:nvPicPr>
          <p:cNvPr id="16" name="Image 2" descr="C:\Users\yasha\AppData\Local\Temp\claude\C--xampp-htdocs-ifqm\eb621171-b1eb-4bc6-8541-20fe7c7fc083\scratchpad\ifqm-ppt\assets\bala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011" y="4103827"/>
            <a:ext cx="296266" cy="2962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18488" y="3886200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voting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618488" y="421538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3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a group with a custom approval threshold (e.g. 60%).</a:t>
            </a:r>
            <a:endParaRPr lang="en-US" sz="1130" dirty="0"/>
          </a:p>
        </p:txBody>
      </p:sp>
      <p:sp>
        <p:nvSpPr>
          <p:cNvPr id="19" name="Shape 14"/>
          <p:cNvSpPr/>
          <p:nvPr/>
        </p:nvSpPr>
        <p:spPr>
          <a:xfrm>
            <a:off x="6830568" y="1600200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050024" y="1819656"/>
            <a:ext cx="548640" cy="548640"/>
          </a:xfrm>
          <a:prstGeom prst="ellipse">
            <a:avLst/>
          </a:prstGeom>
          <a:solidFill>
            <a:srgbClr val="EA580C"/>
          </a:solidFill>
          <a:ln/>
          <a:effectLst>
            <a:outerShdw blurRad="101600" dist="25400" dir="5400000" algn="bl" rotWithShape="0">
              <a:srgbClr val="EA580C">
                <a:alpha val="35000"/>
              </a:srgbClr>
            </a:outerShdw>
          </a:effectLst>
        </p:spPr>
      </p:sp>
      <p:pic>
        <p:nvPicPr>
          <p:cNvPr id="21" name="Image 3" descr="C:\Users\yasha\AppData\Local\Temp\claude\C--xampp-htdocs-ifqm\eb621171-b1eb-4bc6-8541-20fe7c7fc083\scratchpad\ifqm-ppt\assets\task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6211" y="1945843"/>
            <a:ext cx="296266" cy="2962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90688" y="1728216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review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90688" y="20574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3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reject many ideas — or assign a committee — in one action.</a:t>
            </a:r>
            <a:endParaRPr lang="en-US" sz="1130" dirty="0"/>
          </a:p>
        </p:txBody>
      </p:sp>
      <p:sp>
        <p:nvSpPr>
          <p:cNvPr id="24" name="Shape 18"/>
          <p:cNvSpPr/>
          <p:nvPr/>
        </p:nvSpPr>
        <p:spPr>
          <a:xfrm>
            <a:off x="6830568" y="2679192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050024" y="2898648"/>
            <a:ext cx="548640" cy="548640"/>
          </a:xfrm>
          <a:prstGeom prst="ellipse">
            <a:avLst/>
          </a:prstGeom>
          <a:solidFill>
            <a:srgbClr val="059669"/>
          </a:solidFill>
          <a:ln/>
          <a:effectLst>
            <a:outerShdw blurRad="101600" dist="25400" dir="5400000" algn="bl" rotWithShape="0">
              <a:srgbClr val="059669">
                <a:alpha val="35000"/>
              </a:srgbClr>
            </a:outerShdw>
          </a:effectLst>
        </p:spPr>
      </p:sp>
      <p:pic>
        <p:nvPicPr>
          <p:cNvPr id="26" name="Image 4" descr="C:\Users\yasha\AppData\Local\Temp\claude\C--xampp-htdocs-ifqm\eb621171-b1eb-4bc6-8541-20fe7c7fc083\scratchpad\ifqm-ppt\assets\ch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6211" y="3024835"/>
            <a:ext cx="296266" cy="29626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790688" y="2807208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&amp; implementation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7790688" y="31363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3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financial impact, assign an owner, target date and status.</a:t>
            </a:r>
            <a:endParaRPr lang="en-US" sz="1130" dirty="0"/>
          </a:p>
        </p:txBody>
      </p:sp>
      <p:sp>
        <p:nvSpPr>
          <p:cNvPr id="29" name="Shape 22"/>
          <p:cNvSpPr/>
          <p:nvPr/>
        </p:nvSpPr>
        <p:spPr>
          <a:xfrm>
            <a:off x="6830568" y="3758184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7050024" y="3977640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25400" dir="5400000" algn="bl" rotWithShape="0">
              <a:srgbClr val="F59E0B">
                <a:alpha val="35000"/>
              </a:srgbClr>
            </a:outerShdw>
          </a:effectLst>
        </p:spPr>
      </p:sp>
      <p:pic>
        <p:nvPicPr>
          <p:cNvPr id="31" name="Image 5" descr="C:\Users\yasha\AppData\Local\Temp\claude\C--xampp-htdocs-ifqm\eb621171-b1eb-4bc6-8541-20fe7c7fc083\scratchpad\ifqm-ppt\assets\chartba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6211" y="4103827"/>
            <a:ext cx="296266" cy="29626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790688" y="3886200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790688" y="421538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3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vs overdue reviews at a glance, with export &amp; print reports.</a:t>
            </a:r>
            <a:endParaRPr lang="en-US" sz="11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 · 3 OF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admins &amp; everyone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819656"/>
            <a:ext cx="548640" cy="548640"/>
          </a:xfrm>
          <a:prstGeom prst="ellipse">
            <a:avLst/>
          </a:prstGeom>
          <a:solidFill>
            <a:srgbClr val="6D28D9"/>
          </a:solidFill>
          <a:ln/>
          <a:effectLst>
            <a:outerShdw blurRad="101600" dist="25400" dir="5400000" algn="bl" rotWithShape="0">
              <a:srgbClr val="6D28D9">
                <a:alpha val="35000"/>
              </a:srgbClr>
            </a:outerShdw>
          </a:effectLst>
        </p:spPr>
      </p:sp>
      <p:pic>
        <p:nvPicPr>
          <p:cNvPr id="6" name="Image 0" descr="C:\Users\yasha\AppData\Local\Temp\claude\C--xampp-htdocs-ifqm\eb621171-b1eb-4bc6-8541-20fe7c7fc083\scratchpad\ifqm-ppt\assets\userpl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011" y="1945843"/>
            <a:ext cx="296266" cy="2962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18488" y="1728216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18488" y="20574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3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 and deactivate users across an 8-level role hierarchy.</a:t>
            </a:r>
            <a:endParaRPr lang="en-US" sz="1130" dirty="0"/>
          </a:p>
        </p:txBody>
      </p:sp>
      <p:sp>
        <p:nvSpPr>
          <p:cNvPr id="9" name="Shape 6"/>
          <p:cNvSpPr/>
          <p:nvPr/>
        </p:nvSpPr>
        <p:spPr>
          <a:xfrm>
            <a:off x="658368" y="2679192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77824" y="2898648"/>
            <a:ext cx="548640" cy="548640"/>
          </a:xfrm>
          <a:prstGeom prst="ellipse">
            <a:avLst/>
          </a:prstGeom>
          <a:solidFill>
            <a:srgbClr val="DB2777"/>
          </a:solidFill>
          <a:ln/>
          <a:effectLst>
            <a:outerShdw blurRad="101600" dist="25400" dir="5400000" algn="bl" rotWithShape="0">
              <a:srgbClr val="DB2777">
                <a:alpha val="35000"/>
              </a:srgbClr>
            </a:outerShdw>
          </a:effectLst>
        </p:spPr>
      </p:sp>
      <p:pic>
        <p:nvPicPr>
          <p:cNvPr id="11" name="Image 1" descr="C:\Users\yasha\AppData\Local\Temp\claude\C--xampp-htdocs-ifqm\eb621171-b1eb-4bc6-8541-20fe7c7fc083\scratchpad\ifqm-ppt\assets\co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011" y="3024835"/>
            <a:ext cx="296266" cy="2962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18488" y="2807208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workflow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618488" y="31363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3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approval chain, SLAs, thresholds and feature flags per organisation.</a:t>
            </a:r>
            <a:endParaRPr lang="en-US" sz="1130" dirty="0"/>
          </a:p>
        </p:txBody>
      </p:sp>
      <p:sp>
        <p:nvSpPr>
          <p:cNvPr id="14" name="Shape 10"/>
          <p:cNvSpPr/>
          <p:nvPr/>
        </p:nvSpPr>
        <p:spPr>
          <a:xfrm>
            <a:off x="658368" y="3758184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77824" y="3977640"/>
            <a:ext cx="548640" cy="548640"/>
          </a:xfrm>
          <a:prstGeom prst="ellipse">
            <a:avLst/>
          </a:prstGeom>
          <a:solidFill>
            <a:srgbClr val="0D9488"/>
          </a:solidFill>
          <a:ln/>
          <a:effectLst>
            <a:outerShdw blurRad="101600" dist="25400" dir="5400000" algn="bl" rotWithShape="0">
              <a:srgbClr val="0D9488">
                <a:alpha val="35000"/>
              </a:srgbClr>
            </a:outerShdw>
          </a:effectLst>
        </p:spPr>
      </p:sp>
      <p:pic>
        <p:nvPicPr>
          <p:cNvPr id="16" name="Image 2" descr="C:\Users\yasha\AppData\Local\Temp\claude\C--xampp-htdocs-ifqm\eb621171-b1eb-4bc6-8541-20fe7c7fc083\scratchpad\ifqm-ppt\assets\envelop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011" y="4103827"/>
            <a:ext cx="296266" cy="2962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18488" y="3886200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notifications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618488" y="421538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3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SMTP-driven alerts with a built-in queue and test-send.</a:t>
            </a:r>
            <a:endParaRPr lang="en-US" sz="1130" dirty="0"/>
          </a:p>
        </p:txBody>
      </p:sp>
      <p:sp>
        <p:nvSpPr>
          <p:cNvPr id="19" name="Shape 14"/>
          <p:cNvSpPr/>
          <p:nvPr/>
        </p:nvSpPr>
        <p:spPr>
          <a:xfrm>
            <a:off x="6830568" y="1600200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050024" y="1819656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25400" dir="5400000" algn="bl" rotWithShape="0">
              <a:srgbClr val="F59E0B">
                <a:alpha val="35000"/>
              </a:srgbClr>
            </a:outerShdw>
          </a:effectLst>
        </p:spPr>
      </p:sp>
      <p:pic>
        <p:nvPicPr>
          <p:cNvPr id="21" name="Image 3" descr="C:\Users\yasha\AppData\Local\Temp\claude\C--xampp-htdocs-ifqm\eb621171-b1eb-4bc6-8541-20fe7c7fc083\scratchpad\ifqm-ppt\assets\st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6211" y="1945843"/>
            <a:ext cx="296266" cy="2962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90688" y="1728216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board &amp; voting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90688" y="20574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3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Up/down votes, net-score ranking and 1–5★ ratings on ideas.</a:t>
            </a:r>
            <a:endParaRPr lang="en-US" sz="1130" dirty="0"/>
          </a:p>
        </p:txBody>
      </p:sp>
      <p:sp>
        <p:nvSpPr>
          <p:cNvPr id="24" name="Shape 18"/>
          <p:cNvSpPr/>
          <p:nvPr/>
        </p:nvSpPr>
        <p:spPr>
          <a:xfrm>
            <a:off x="6830568" y="2679192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050024" y="2898648"/>
            <a:ext cx="548640" cy="548640"/>
          </a:xfrm>
          <a:prstGeom prst="ellipse">
            <a:avLst/>
          </a:prstGeom>
          <a:solidFill>
            <a:srgbClr val="EA580C"/>
          </a:solidFill>
          <a:ln/>
          <a:effectLst>
            <a:outerShdw blurRad="101600" dist="25400" dir="5400000" algn="bl" rotWithShape="0">
              <a:srgbClr val="EA580C">
                <a:alpha val="35000"/>
              </a:srgbClr>
            </a:outerShdw>
          </a:effectLst>
        </p:spPr>
      </p:sp>
      <p:pic>
        <p:nvPicPr>
          <p:cNvPr id="26" name="Image 4" descr="C:\Users\yasha\AppData\Local\Temp\claude\C--xampp-htdocs-ifqm\eb621171-b1eb-4bc6-8541-20fe7c7fc083\scratchpad\ifqm-ppt\assets\aw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6211" y="3024835"/>
            <a:ext cx="296266" cy="29626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790688" y="2807208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7790688" y="31363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3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Time-bound campaigns that focus everyone on a specific theme.</a:t>
            </a:r>
            <a:endParaRPr lang="en-US" sz="1130" dirty="0"/>
          </a:p>
        </p:txBody>
      </p:sp>
      <p:sp>
        <p:nvSpPr>
          <p:cNvPr id="29" name="Shape 22"/>
          <p:cNvSpPr/>
          <p:nvPr/>
        </p:nvSpPr>
        <p:spPr>
          <a:xfrm>
            <a:off x="6830568" y="3758184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7050024" y="3977640"/>
            <a:ext cx="548640" cy="548640"/>
          </a:xfrm>
          <a:prstGeom prst="ellipse">
            <a:avLst/>
          </a:prstGeom>
          <a:solidFill>
            <a:srgbClr val="059669"/>
          </a:solidFill>
          <a:ln/>
          <a:effectLst>
            <a:outerShdw blurRad="101600" dist="25400" dir="5400000" algn="bl" rotWithShape="0">
              <a:srgbClr val="059669">
                <a:alpha val="35000"/>
              </a:srgbClr>
            </a:outerShdw>
          </a:effectLst>
        </p:spPr>
      </p:sp>
      <p:pic>
        <p:nvPicPr>
          <p:cNvPr id="31" name="Image 5" descr="C:\Users\yasha\AppData\Local\Temp\claude\C--xampp-htdocs-ifqm\eb621171-b1eb-4bc6-8541-20fe7c7fc083\scratchpad\ifqm-ppt\assets\filecsv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6211" y="4103827"/>
            <a:ext cx="296266" cy="29626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790688" y="3886200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 audit log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790688" y="421538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3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CSV/analytics exports plus an append-only record of every action.</a:t>
            </a:r>
            <a:endParaRPr lang="en-US" sz="11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scoring engine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idea is scored 0–100 the instant it is submitted — using Google Gemini when configured, or a built-in heuristic engine that needs no API key at all. Generic phrases like “improve efficiency” are penalised; specific, measurable ideas score higher.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4688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Clarity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743200" y="2523744"/>
            <a:ext cx="5943600" cy="274320"/>
          </a:xfrm>
          <a:prstGeom prst="roundRect">
            <a:avLst>
              <a:gd name="adj" fmla="val 50000"/>
            </a:avLst>
          </a:prstGeom>
          <a:solidFill>
            <a:srgbClr val="ECE8F7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0" y="2523744"/>
            <a:ext cx="594360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/>
          <a:effectLst>
            <a:outerShdw blurRad="63500" dist="12700" dir="5400000" algn="bl" rotWithShape="0">
              <a:srgbClr val="6D28D9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796528" y="246888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20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8368" y="307238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Quality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743200" y="3127248"/>
            <a:ext cx="5943600" cy="274320"/>
          </a:xfrm>
          <a:prstGeom prst="roundRect">
            <a:avLst>
              <a:gd name="adj" fmla="val 50000"/>
            </a:avLst>
          </a:prstGeom>
          <a:solidFill>
            <a:srgbClr val="ECE8F7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0" y="3127248"/>
            <a:ext cx="5943600" cy="274320"/>
          </a:xfrm>
          <a:prstGeom prst="roundRect">
            <a:avLst>
              <a:gd name="adj" fmla="val 50000"/>
            </a:avLst>
          </a:prstGeom>
          <a:solidFill>
            <a:srgbClr val="DB2777"/>
          </a:solidFill>
          <a:ln/>
          <a:effectLst>
            <a:outerShdw blurRad="63500" dist="12700" dir="5400000" algn="bl" rotWithShape="0">
              <a:srgbClr val="DB2777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796528" y="307238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20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8368" y="36758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743200" y="3730752"/>
            <a:ext cx="5943600" cy="274320"/>
          </a:xfrm>
          <a:prstGeom prst="roundRect">
            <a:avLst>
              <a:gd name="adj" fmla="val 50000"/>
            </a:avLst>
          </a:prstGeom>
          <a:solidFill>
            <a:srgbClr val="ECE8F7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0" y="3730752"/>
            <a:ext cx="5943600" cy="27432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  <a:effectLst>
            <a:outerShdw blurRad="63500" dist="12700" dir="5400000" algn="bl" rotWithShape="0">
              <a:srgbClr val="0D9488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796528" y="36758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20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8368" y="42793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743200" y="4334256"/>
            <a:ext cx="5943600" cy="274320"/>
          </a:xfrm>
          <a:prstGeom prst="roundRect">
            <a:avLst>
              <a:gd name="adj" fmla="val 50000"/>
            </a:avLst>
          </a:prstGeom>
          <a:solidFill>
            <a:srgbClr val="ECE8F7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0" y="4334256"/>
            <a:ext cx="4457700" cy="27432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  <a:effectLst>
            <a:outerShdw blurRad="63500" dist="12700" dir="5400000" algn="bl" rotWithShape="0">
              <a:srgbClr val="EA580C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0628" y="427939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15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8368" y="488289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2743200" y="4937760"/>
            <a:ext cx="5943600" cy="274320"/>
          </a:xfrm>
          <a:prstGeom prst="roundRect">
            <a:avLst>
              <a:gd name="adj" fmla="val 50000"/>
            </a:avLst>
          </a:prstGeom>
          <a:solidFill>
            <a:srgbClr val="ECE8F7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0" y="4937760"/>
            <a:ext cx="445770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  <a:effectLst>
            <a:outerShdw blurRad="63500" dist="12700" dir="5400000" algn="bl" rotWithShape="0">
              <a:srgbClr val="F59E0B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10628" y="488289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15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8368" y="54864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Measurability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2743200" y="5541264"/>
            <a:ext cx="5943600" cy="274320"/>
          </a:xfrm>
          <a:prstGeom prst="roundRect">
            <a:avLst>
              <a:gd name="adj" fmla="val 50000"/>
            </a:avLst>
          </a:prstGeom>
          <a:solidFill>
            <a:srgbClr val="ECE8F7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0" y="5541264"/>
            <a:ext cx="2971800" cy="27432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  <a:effectLst>
            <a:outerShdw blurRad="63500" dist="12700" dir="5400000" algn="bl" rotWithShape="0">
              <a:srgbClr val="059669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824728" y="54864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921240" y="2468880"/>
            <a:ext cx="1645920" cy="3383280"/>
          </a:xfrm>
          <a:prstGeom prst="roundRect">
            <a:avLst>
              <a:gd name="adj" fmla="val 6667"/>
            </a:avLst>
          </a:prstGeom>
          <a:solidFill>
            <a:srgbClr val="1A1330"/>
          </a:solidFill>
          <a:ln/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921240" y="26974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kern="0" spc="10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921240" y="32461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5000" dirty="0"/>
          </a:p>
        </p:txBody>
      </p:sp>
      <p:sp>
        <p:nvSpPr>
          <p:cNvPr id="32" name="Text 30"/>
          <p:cNvSpPr/>
          <p:nvPr/>
        </p:nvSpPr>
        <p:spPr>
          <a:xfrm>
            <a:off x="9921240" y="4160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quality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921240" y="48463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key?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scorer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automatically.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GOVERNANCE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ideas get approved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155448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1828800"/>
            <a:ext cx="777240" cy="777240"/>
          </a:xfrm>
          <a:prstGeom prst="ellipse">
            <a:avLst/>
          </a:prstGeom>
          <a:solidFill>
            <a:srgbClr val="6D28D9"/>
          </a:solidFill>
          <a:ln/>
          <a:effectLst>
            <a:outerShdw blurRad="101600" dist="25400" dir="5400000" algn="bl" rotWithShape="0">
              <a:srgbClr val="6D28D9">
                <a:alpha val="35000"/>
              </a:srgbClr>
            </a:outerShdw>
          </a:effectLst>
        </p:spPr>
      </p:sp>
      <p:pic>
        <p:nvPicPr>
          <p:cNvPr id="6" name="Image 0" descr="C:\Users\yasha\AppData\Local\Temp\claude\C--xampp-htdocs-ifqm\eb621171-b1eb-4bc6-8541-20fe7c7fc083\scratchpad\ifqm-ppt\assets\site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4946" y="201533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92808" y="18745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892808" y="2286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· UP THE ORG CHART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78408" y="2880360"/>
            <a:ext cx="4709160" cy="457200"/>
          </a:xfrm>
          <a:prstGeom prst="roundRect">
            <a:avLst>
              <a:gd name="adj" fmla="val 14000"/>
            </a:avLst>
          </a:prstGeom>
          <a:solidFill>
            <a:srgbClr val="F5F3FB"/>
          </a:solidFill>
          <a:ln/>
        </p:spPr>
      </p:sp>
      <p:sp>
        <p:nvSpPr>
          <p:cNvPr id="10" name="Text 7"/>
          <p:cNvSpPr/>
          <p:nvPr/>
        </p:nvSpPr>
        <p:spPr>
          <a:xfrm>
            <a:off x="1161288" y="288036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goes to the submitter’s manager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035808" y="330098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978408" y="3447288"/>
            <a:ext cx="4709160" cy="457200"/>
          </a:xfrm>
          <a:prstGeom prst="roundRect">
            <a:avLst>
              <a:gd name="adj" fmla="val 14000"/>
            </a:avLst>
          </a:prstGeom>
          <a:solidFill>
            <a:srgbClr val="F5F3FB"/>
          </a:solidFill>
          <a:ln/>
        </p:spPr>
      </p:sp>
      <p:sp>
        <p:nvSpPr>
          <p:cNvPr id="13" name="Text 10"/>
          <p:cNvSpPr/>
          <p:nvPr/>
        </p:nvSpPr>
        <p:spPr>
          <a:xfrm>
            <a:off x="1161288" y="3447288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Auto-escalates up if not a final approver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035808" y="386791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978408" y="4014216"/>
            <a:ext cx="4709160" cy="457200"/>
          </a:xfrm>
          <a:prstGeom prst="roundRect">
            <a:avLst>
              <a:gd name="adj" fmla="val 14000"/>
            </a:avLst>
          </a:prstGeom>
          <a:solidFill>
            <a:srgbClr val="F5F3FB"/>
          </a:solidFill>
          <a:ln/>
        </p:spPr>
      </p:sp>
      <p:sp>
        <p:nvSpPr>
          <p:cNvPr id="16" name="Text 13"/>
          <p:cNvSpPr/>
          <p:nvPr/>
        </p:nvSpPr>
        <p:spPr>
          <a:xfrm>
            <a:off x="1161288" y="4014216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/ Admin gives final decision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035808" y="44348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978408" y="4581144"/>
            <a:ext cx="4709160" cy="457200"/>
          </a:xfrm>
          <a:prstGeom prst="roundRect">
            <a:avLst>
              <a:gd name="adj" fmla="val 14000"/>
            </a:avLst>
          </a:prstGeom>
          <a:solidFill>
            <a:srgbClr val="F5F3FB"/>
          </a:solidFill>
          <a:ln/>
        </p:spPr>
      </p:sp>
      <p:sp>
        <p:nvSpPr>
          <p:cNvPr id="19" name="Text 16"/>
          <p:cNvSpPr/>
          <p:nvPr/>
        </p:nvSpPr>
        <p:spPr>
          <a:xfrm>
            <a:off x="1161288" y="4581144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level shown as a badge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172200" y="155448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92240" y="1828800"/>
            <a:ext cx="777240" cy="777240"/>
          </a:xfrm>
          <a:prstGeom prst="ellipse">
            <a:avLst/>
          </a:prstGeom>
          <a:solidFill>
            <a:srgbClr val="DB2777"/>
          </a:solidFill>
          <a:ln/>
          <a:effectLst>
            <a:outerShdw blurRad="101600" dist="25400" dir="5400000" algn="bl" rotWithShape="0">
              <a:srgbClr val="DB2777">
                <a:alpha val="35000"/>
              </a:srgbClr>
            </a:outerShdw>
          </a:effectLst>
        </p:spPr>
      </p:sp>
      <p:pic>
        <p:nvPicPr>
          <p:cNvPr id="22" name="Image 1" descr="C:\Users\yasha\AppData\Local\Temp\claude\C--xampp-htdocs-ifqm\eb621171-b1eb-4bc6-8541-20fe7c7fc083\scratchpad\ifqm-ppt\assets\bal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8778" y="2015338"/>
            <a:ext cx="404165" cy="40416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406640" y="18745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7406640" y="2286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MULTI-REVIEWER · THRESHOLD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492240" y="2880360"/>
            <a:ext cx="4709160" cy="457200"/>
          </a:xfrm>
          <a:prstGeom prst="roundRect">
            <a:avLst>
              <a:gd name="adj" fmla="val 14000"/>
            </a:avLst>
          </a:prstGeom>
          <a:solidFill>
            <a:srgbClr val="F5F3FB"/>
          </a:solidFill>
          <a:ln/>
        </p:spPr>
      </p:sp>
      <p:sp>
        <p:nvSpPr>
          <p:cNvPr id="26" name="Text 22"/>
          <p:cNvSpPr/>
          <p:nvPr/>
        </p:nvSpPr>
        <p:spPr>
          <a:xfrm>
            <a:off x="6675120" y="288036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to a named group of reviewers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8549640" y="330098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6492240" y="3447288"/>
            <a:ext cx="4709160" cy="457200"/>
          </a:xfrm>
          <a:prstGeom prst="roundRect">
            <a:avLst>
              <a:gd name="adj" fmla="val 14000"/>
            </a:avLst>
          </a:prstGeom>
          <a:solidFill>
            <a:srgbClr val="F5F3FB"/>
          </a:solidFill>
          <a:ln/>
        </p:spPr>
      </p:sp>
      <p:sp>
        <p:nvSpPr>
          <p:cNvPr id="29" name="Text 25"/>
          <p:cNvSpPr/>
          <p:nvPr/>
        </p:nvSpPr>
        <p:spPr>
          <a:xfrm>
            <a:off x="6675120" y="3447288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reviewer votes approve / reject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8549640" y="386791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6492240" y="4014216"/>
            <a:ext cx="4709160" cy="457200"/>
          </a:xfrm>
          <a:prstGeom prst="roundRect">
            <a:avLst>
              <a:gd name="adj" fmla="val 14000"/>
            </a:avLst>
          </a:prstGeom>
          <a:solidFill>
            <a:srgbClr val="F5F3FB"/>
          </a:solidFill>
          <a:ln/>
        </p:spPr>
      </p:sp>
      <p:sp>
        <p:nvSpPr>
          <p:cNvPr id="32" name="Text 28"/>
          <p:cNvSpPr/>
          <p:nvPr/>
        </p:nvSpPr>
        <p:spPr>
          <a:xfrm>
            <a:off x="6675120" y="4014216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decides the outcome (e.g. 60%)</a:t>
            </a:r>
            <a:endParaRPr lang="en-US" sz="1250" dirty="0"/>
          </a:p>
        </p:txBody>
      </p:sp>
      <p:sp>
        <p:nvSpPr>
          <p:cNvPr id="33" name="Text 29"/>
          <p:cNvSpPr/>
          <p:nvPr/>
        </p:nvSpPr>
        <p:spPr>
          <a:xfrm>
            <a:off x="8549640" y="44348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6492240" y="4581144"/>
            <a:ext cx="4709160" cy="457200"/>
          </a:xfrm>
          <a:prstGeom prst="roundRect">
            <a:avLst>
              <a:gd name="adj" fmla="val 14000"/>
            </a:avLst>
          </a:prstGeom>
          <a:solidFill>
            <a:srgbClr val="F5F3FB"/>
          </a:solidFill>
          <a:ln/>
        </p:spPr>
      </p:sp>
      <p:sp>
        <p:nvSpPr>
          <p:cNvPr id="35" name="Text 31"/>
          <p:cNvSpPr/>
          <p:nvPr/>
        </p:nvSpPr>
        <p:spPr>
          <a:xfrm>
            <a:off x="6675120" y="4581144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means one reject blocks the idea</a:t>
            </a:r>
            <a:endParaRPr lang="en-US" sz="1250" dirty="0"/>
          </a:p>
        </p:txBody>
      </p:sp>
      <p:sp>
        <p:nvSpPr>
          <p:cNvPr id="36" name="Text 32"/>
          <p:cNvSpPr/>
          <p:nvPr/>
        </p:nvSpPr>
        <p:spPr>
          <a:xfrm>
            <a:off x="658368" y="6172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choose the default; a reviewer can convert any single idea to committee review when broader input is needed.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BY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Points, recognition &amp; momentum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3291840" cy="2651760"/>
          </a:xfrm>
          <a:prstGeom prst="roundRect">
            <a:avLst>
              <a:gd name="adj" fmla="val 4828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1965960"/>
            <a:ext cx="731520" cy="731520"/>
          </a:xfrm>
          <a:prstGeom prst="ellipse">
            <a:avLst/>
          </a:prstGeom>
          <a:solidFill>
            <a:srgbClr val="7C3AED"/>
          </a:solidFill>
          <a:ln/>
          <a:effectLst>
            <a:outerShdw blurRad="101600" dist="25400" dir="5400000" algn="bl" rotWithShape="0">
              <a:srgbClr val="7C3AED">
                <a:alpha val="35000"/>
              </a:srgbClr>
            </a:outerShdw>
          </a:effectLst>
        </p:spPr>
      </p:sp>
      <p:pic>
        <p:nvPicPr>
          <p:cNvPr id="6" name="Image 0" descr="C:\Users\yasha\AppData\Local\Temp\claude\C--xampp-htdocs-ifqm\eb621171-b1eb-4bc6-8541-20fe7c7fc083\scratchpad\ifqm-ppt\assets\paperpla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21488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8745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1920240" y="2697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43000" y="33375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submitting an idea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434840" y="1691640"/>
            <a:ext cx="3291840" cy="2651760"/>
          </a:xfrm>
          <a:prstGeom prst="roundRect">
            <a:avLst>
              <a:gd name="adj" fmla="val 4828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1965960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blurRad="101600" dist="25400" dir="5400000" algn="bl" rotWithShape="0">
              <a:srgbClr val="0D9488">
                <a:alpha val="35000"/>
              </a:srgbClr>
            </a:outerShdw>
          </a:effectLst>
        </p:spPr>
      </p:sp>
      <p:pic>
        <p:nvPicPr>
          <p:cNvPr id="12" name="Image 1" descr="C:\Users\yasha\AppData\Local\Temp\claude\C--xampp-htdocs-ifqm\eb621171-b1eb-4bc6-8541-20fe7c7fc083\scratchpad\ifqm-ppt\assets\check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1488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8745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4600" dirty="0"/>
          </a:p>
        </p:txBody>
      </p:sp>
      <p:sp>
        <p:nvSpPr>
          <p:cNvPr id="14" name="Text 10"/>
          <p:cNvSpPr/>
          <p:nvPr/>
        </p:nvSpPr>
        <p:spPr>
          <a:xfrm>
            <a:off x="5532120" y="2697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754880" y="33375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idea is approved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046720" y="1691640"/>
            <a:ext cx="3291840" cy="2651760"/>
          </a:xfrm>
          <a:prstGeom prst="roundRect">
            <a:avLst>
              <a:gd name="adj" fmla="val 4828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66760" y="1965960"/>
            <a:ext cx="731520" cy="73152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25400" dir="5400000" algn="bl" rotWithShape="0">
              <a:srgbClr val="F59E0B">
                <a:alpha val="35000"/>
              </a:srgbClr>
            </a:outerShdw>
          </a:effectLst>
        </p:spPr>
      </p:sp>
      <p:pic>
        <p:nvPicPr>
          <p:cNvPr id="18" name="Image 2" descr="C:\Users\yasha\AppData\Local\Temp\claude\C--xampp-htdocs-ifqm\eb621171-b1eb-4bc6-8541-20fe7c7fc083\scratchpad\ifqm-ppt\assets\trophy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214884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98280" y="18745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4600" dirty="0"/>
          </a:p>
        </p:txBody>
      </p:sp>
      <p:sp>
        <p:nvSpPr>
          <p:cNvPr id="20" name="Text 15"/>
          <p:cNvSpPr/>
          <p:nvPr/>
        </p:nvSpPr>
        <p:spPr>
          <a:xfrm>
            <a:off x="9144000" y="2697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366760" y="33375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idea is implemented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822960" y="4892040"/>
            <a:ext cx="640080" cy="64008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25400" dir="5400000" algn="bl" rotWithShape="0">
              <a:srgbClr val="F59E0B">
                <a:alpha val="35000"/>
              </a:srgbClr>
            </a:outerShdw>
          </a:effectLst>
        </p:spPr>
      </p:sp>
      <p:pic>
        <p:nvPicPr>
          <p:cNvPr id="23" name="Image 3" descr="C:\Users\yasha\AppData\Local\Temp\claude\C--xampp-htdocs-ifqm\eb621171-b1eb-4bc6-8541-20fe7c7fc083\scratchpad\ifqm-ppt\assets\trophy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6579" y="5045659"/>
            <a:ext cx="332842" cy="33284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8646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1645920" y="5193792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&amp; department rankings by points, with average idea quality.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434840" y="4892040"/>
            <a:ext cx="640080" cy="640080"/>
          </a:xfrm>
          <a:prstGeom prst="ellipse">
            <a:avLst/>
          </a:prstGeom>
          <a:solidFill>
            <a:srgbClr val="EA580C"/>
          </a:solidFill>
          <a:ln/>
          <a:effectLst>
            <a:outerShdw blurRad="101600" dist="25400" dir="5400000" algn="bl" rotWithShape="0">
              <a:srgbClr val="EA580C">
                <a:alpha val="35000"/>
              </a:srgbClr>
            </a:outerShdw>
          </a:effectLst>
        </p:spPr>
      </p:sp>
      <p:pic>
        <p:nvPicPr>
          <p:cNvPr id="27" name="Image 4" descr="C:\Users\yasha\AppData\Local\Temp\claude\C--xampp-htdocs-ifqm\eb621171-b1eb-4bc6-8541-20fe7c7fc083\scratchpad\ifqm-ppt\assets\aw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8459" y="5045659"/>
            <a:ext cx="332842" cy="33284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57800" y="48646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5257800" y="5193792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Time-bound campaigns can award bonus points and priority review.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046720" y="4892040"/>
            <a:ext cx="640080" cy="640080"/>
          </a:xfrm>
          <a:prstGeom prst="ellipse">
            <a:avLst/>
          </a:prstGeom>
          <a:solidFill>
            <a:srgbClr val="DB2777"/>
          </a:solidFill>
          <a:ln/>
          <a:effectLst>
            <a:outerShdw blurRad="101600" dist="25400" dir="5400000" algn="bl" rotWithShape="0">
              <a:srgbClr val="DB2777">
                <a:alpha val="35000"/>
              </a:srgbClr>
            </a:outerShdw>
          </a:effectLst>
        </p:spPr>
      </p:sp>
      <p:pic>
        <p:nvPicPr>
          <p:cNvPr id="31" name="Image 5" descr="C:\Users\yasha\AppData\Local\Temp\claude\C--xampp-htdocs-ifqm\eb621171-b1eb-4bc6-8541-20fe7c7fc083\scratchpad\ifqm-ppt\assets\st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0339" y="5045659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69680" y="48646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board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869680" y="5193792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Peers up/down-vote and rate ideas — social proof for the best ones.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READY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scale &amp; trust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5257800" cy="208483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1892808"/>
            <a:ext cx="822960" cy="822960"/>
          </a:xfrm>
          <a:prstGeom prst="ellipse">
            <a:avLst/>
          </a:prstGeom>
          <a:solidFill>
            <a:srgbClr val="6D28D9"/>
          </a:solidFill>
          <a:ln/>
          <a:effectLst>
            <a:outerShdw blurRad="101600" dist="25400" dir="5400000" algn="bl" rotWithShape="0">
              <a:srgbClr val="6D28D9">
                <a:alpha val="35000"/>
              </a:srgbClr>
            </a:outerShdw>
          </a:effectLst>
        </p:spPr>
      </p:sp>
      <p:pic>
        <p:nvPicPr>
          <p:cNvPr id="6" name="Image 0" descr="C:\Users\yasha\AppData\Local\Temp\claude\C--xampp-htdocs-ifqm\eb621171-b1eb-4bc6-8541-20fe7c7fc083\scratchpad\ifqm-ppt\assets\buil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918" y="2090318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29968" y="1956816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multi-tenancy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78408" y="280720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 serves many organisations, each with its own isolated database and uploads.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90488" y="1572768"/>
            <a:ext cx="5257800" cy="208483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0528" y="1892808"/>
            <a:ext cx="822960" cy="822960"/>
          </a:xfrm>
          <a:prstGeom prst="ellipse">
            <a:avLst/>
          </a:prstGeom>
          <a:solidFill>
            <a:srgbClr val="DB2777"/>
          </a:solidFill>
          <a:ln/>
          <a:effectLst>
            <a:outerShdw blurRad="101600" dist="25400" dir="5400000" algn="bl" rotWithShape="0">
              <a:srgbClr val="DB2777">
                <a:alpha val="35000"/>
              </a:srgbClr>
            </a:outerShdw>
          </a:effectLst>
        </p:spPr>
      </p:sp>
      <p:pic>
        <p:nvPicPr>
          <p:cNvPr id="11" name="Image 1" descr="C:\Users\yasha\AppData\Local\Temp\claude\C--xampp-htdocs-ifqm\eb621171-b1eb-4bc6-8541-20fe7c7fc083\scratchpad\ifqm-ppt\assets\fingerpr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8038" y="2090318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62088" y="1956816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contract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10528" y="280720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admins see only aggregate stats — never the content of any organisation’s ideas.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58368" y="3858768"/>
            <a:ext cx="5257800" cy="208483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78408" y="4178808"/>
            <a:ext cx="822960" cy="822960"/>
          </a:xfrm>
          <a:prstGeom prst="ellipse">
            <a:avLst/>
          </a:prstGeom>
          <a:solidFill>
            <a:srgbClr val="0D9488"/>
          </a:solidFill>
          <a:ln/>
          <a:effectLst>
            <a:outerShdw blurRad="101600" dist="25400" dir="5400000" algn="bl" rotWithShape="0">
              <a:srgbClr val="0D9488">
                <a:alpha val="35000"/>
              </a:srgbClr>
            </a:outerShdw>
          </a:effectLst>
        </p:spPr>
      </p:sp>
      <p:pic>
        <p:nvPicPr>
          <p:cNvPr id="16" name="Image 2" descr="C:\Users\yasha\AppData\Local\Temp\claude\C--xampp-htdocs-ifqm\eb621171-b1eb-4bc6-8541-20fe7c7fc083\scratchpad\ifqm-ppt\assets\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5918" y="4376318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29968" y="4242816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default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978408" y="509320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auth, bcrypt passwords, per-account lockout, rate limiting, security headers &amp; audit log.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90488" y="3858768"/>
            <a:ext cx="5257800" cy="208483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10528" y="4178808"/>
            <a:ext cx="822960" cy="822960"/>
          </a:xfrm>
          <a:prstGeom prst="ellipse">
            <a:avLst/>
          </a:prstGeom>
          <a:solidFill>
            <a:srgbClr val="EA580C"/>
          </a:solidFill>
          <a:ln/>
          <a:effectLst>
            <a:outerShdw blurRad="101600" dist="25400" dir="5400000" algn="bl" rotWithShape="0">
              <a:srgbClr val="EA580C">
                <a:alpha val="35000"/>
              </a:srgbClr>
            </a:outerShdw>
          </a:effectLst>
        </p:spPr>
      </p:sp>
      <p:pic>
        <p:nvPicPr>
          <p:cNvPr id="21" name="Image 3" descr="C:\Users\yasha\AppData\Local\Temp\claude\C--xampp-htdocs-ifqm\eb621171-b1eb-4bc6-8541-20fe7c7fc083\scratchpad\ifqm-ppt\assets\langu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8038" y="4376318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62088" y="4242816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7-language UI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510528" y="509320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English, Hindi, Kannada, Tamil, Telugu, Malayalam &amp; Marathi — switchable live.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 · ONE SLIDE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at a glance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FFFFFF">
              <a:alpha val="9000"/>
            </a:srgbClr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874520"/>
            <a:ext cx="658368" cy="658368"/>
          </a:xfrm>
          <a:prstGeom prst="ellipse">
            <a:avLst/>
          </a:prstGeom>
          <a:solidFill>
            <a:srgbClr val="0D9488"/>
          </a:solidFill>
          <a:ln/>
          <a:effectLst>
            <a:outerShdw blurRad="101600" dist="25400" dir="5400000" algn="bl" rotWithShape="0">
              <a:srgbClr val="0D9488">
                <a:alpha val="35000"/>
              </a:srgbClr>
            </a:outerShdw>
          </a:effectLst>
        </p:spPr>
      </p:sp>
      <p:pic>
        <p:nvPicPr>
          <p:cNvPr id="6" name="Image 0" descr="C:\Users\yasha\AppData\Local\Temp\claude\C--xampp-htdocs-ifqm\eb621171-b1eb-4bc6-8541-20fe7c7fc083\scratchpad\ifqm-ppt\assets\re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696" y="203252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09928" y="18928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709928" y="21671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SPA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32688" y="277063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3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UI, 7-language i18n, per-tenant branding.</a:t>
            </a:r>
            <a:endParaRPr lang="en-US" sz="1130" dirty="0"/>
          </a:p>
        </p:txBody>
      </p:sp>
      <p:sp>
        <p:nvSpPr>
          <p:cNvPr id="10" name="Shape 7"/>
          <p:cNvSpPr/>
          <p:nvPr/>
        </p:nvSpPr>
        <p:spPr>
          <a:xfrm>
            <a:off x="4315968" y="160020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FFFFFF">
              <a:alpha val="9000"/>
            </a:srgbClr>
          </a:solidFill>
          <a:ln w="15875">
            <a:solidFill>
              <a:srgbClr val="EA580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90288" y="1874520"/>
            <a:ext cx="658368" cy="658368"/>
          </a:xfrm>
          <a:prstGeom prst="ellipse">
            <a:avLst/>
          </a:prstGeom>
          <a:solidFill>
            <a:srgbClr val="EA580C"/>
          </a:solidFill>
          <a:ln/>
          <a:effectLst>
            <a:outerShdw blurRad="101600" dist="25400" dir="5400000" algn="bl" rotWithShape="0">
              <a:srgbClr val="EA580C">
                <a:alpha val="35000"/>
              </a:srgbClr>
            </a:outerShdw>
          </a:effectLst>
        </p:spPr>
      </p:sp>
      <p:pic>
        <p:nvPicPr>
          <p:cNvPr id="12" name="Image 1" descr="C:\Users\yasha\AppData\Local\Temp\claude\C--xampp-htdocs-ifqm\eb621171-b1eb-4bc6-8541-20fe7c7fc083\scratchpad\ifqm-ppt\assets\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8296" y="2032528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67528" y="18928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367528" y="21671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590288" y="277063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3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modular REST route groups, layered controllers &amp; services.</a:t>
            </a:r>
            <a:endParaRPr lang="en-US" sz="1130" dirty="0"/>
          </a:p>
        </p:txBody>
      </p:sp>
      <p:sp>
        <p:nvSpPr>
          <p:cNvPr id="16" name="Shape 12"/>
          <p:cNvSpPr/>
          <p:nvPr/>
        </p:nvSpPr>
        <p:spPr>
          <a:xfrm>
            <a:off x="7973568" y="160020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FFFFFF">
              <a:alpha val="9000"/>
            </a:srgbClr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47888" y="1874520"/>
            <a:ext cx="658368" cy="658368"/>
          </a:xfrm>
          <a:prstGeom prst="ellipse">
            <a:avLst/>
          </a:prstGeom>
          <a:solidFill>
            <a:srgbClr val="7C3AED"/>
          </a:solidFill>
          <a:ln/>
          <a:effectLst>
            <a:outerShdw blurRad="101600" dist="25400" dir="5400000" algn="bl" rotWithShape="0">
              <a:srgbClr val="7C3AED">
                <a:alpha val="35000"/>
              </a:srgbClr>
            </a:outerShdw>
          </a:effectLst>
        </p:spPr>
      </p:sp>
      <p:pic>
        <p:nvPicPr>
          <p:cNvPr id="18" name="Image 2" descr="C:\Users\yasha\AppData\Local\Temp\claude\C--xampp-htdocs-ifqm\eb621171-b1eb-4bc6-8541-20fe7c7fc083\scratchpad\ifqm-ppt\assets\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5896" y="2032528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25128" y="18928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9025128" y="21671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multi-tenant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247888" y="277063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3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registry maps each org to its own isolated database.</a:t>
            </a:r>
            <a:endParaRPr lang="en-US" sz="1130" dirty="0"/>
          </a:p>
        </p:txBody>
      </p:sp>
      <p:sp>
        <p:nvSpPr>
          <p:cNvPr id="22" name="Shape 17"/>
          <p:cNvSpPr/>
          <p:nvPr/>
        </p:nvSpPr>
        <p:spPr>
          <a:xfrm>
            <a:off x="658368" y="388620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FFFFFF">
              <a:alpha val="9000"/>
            </a:srgbClr>
          </a:solidFill>
          <a:ln w="15875">
            <a:solidFill>
              <a:srgbClr val="DB2777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32688" y="4160520"/>
            <a:ext cx="658368" cy="658368"/>
          </a:xfrm>
          <a:prstGeom prst="ellipse">
            <a:avLst/>
          </a:prstGeom>
          <a:solidFill>
            <a:srgbClr val="DB2777"/>
          </a:solidFill>
          <a:ln/>
          <a:effectLst>
            <a:outerShdw blurRad="101600" dist="25400" dir="5400000" algn="bl" rotWithShape="0">
              <a:srgbClr val="DB2777">
                <a:alpha val="35000"/>
              </a:srgbClr>
            </a:outerShdw>
          </a:effectLst>
        </p:spPr>
      </p:sp>
      <p:pic>
        <p:nvPicPr>
          <p:cNvPr id="24" name="Image 3" descr="C:\Users\yasha\AppData\Local\Temp\claude\C--xampp-htdocs-ifqm\eb621171-b1eb-4bc6-8541-20fe7c7fc083\scratchpad\ifqm-ppt\assets\shield-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0696" y="4318528"/>
            <a:ext cx="342351" cy="34235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709928" y="41788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SECURITY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1709928" y="44531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bcrypt · Helmet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932688" y="505663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3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role re-check, per-account lockout, CORS &amp; rate limiting.</a:t>
            </a:r>
            <a:endParaRPr lang="en-US" sz="1130" dirty="0"/>
          </a:p>
        </p:txBody>
      </p:sp>
      <p:sp>
        <p:nvSpPr>
          <p:cNvPr id="28" name="Shape 22"/>
          <p:cNvSpPr/>
          <p:nvPr/>
        </p:nvSpPr>
        <p:spPr>
          <a:xfrm>
            <a:off x="4315968" y="388620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FFFFFF">
              <a:alpha val="9000"/>
            </a:srgbClr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590288" y="4160520"/>
            <a:ext cx="658368" cy="658368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25400" dir="5400000" algn="bl" rotWithShape="0">
              <a:srgbClr val="F59E0B">
                <a:alpha val="35000"/>
              </a:srgbClr>
            </a:outerShdw>
          </a:effectLst>
        </p:spPr>
      </p:sp>
      <p:pic>
        <p:nvPicPr>
          <p:cNvPr id="30" name="Image 4" descr="C:\Users\yasha\AppData\Local\Temp\claude\C--xampp-htdocs-ifqm\eb621171-b1eb-4bc6-8541-20fe7c7fc083\scratchpad\ifqm-ppt\assets\brain-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48296" y="4318528"/>
            <a:ext cx="342351" cy="34235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367528" y="41788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SCORING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5367528" y="44531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provider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4590288" y="505663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3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or built-in heuristic — no vendor lock-in.</a:t>
            </a:r>
            <a:endParaRPr lang="en-US" sz="1130" dirty="0"/>
          </a:p>
        </p:txBody>
      </p:sp>
      <p:sp>
        <p:nvSpPr>
          <p:cNvPr id="34" name="Shape 27"/>
          <p:cNvSpPr/>
          <p:nvPr/>
        </p:nvSpPr>
        <p:spPr>
          <a:xfrm>
            <a:off x="7973568" y="388620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FFFFFF">
              <a:alpha val="9000"/>
            </a:srgbClr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247888" y="4160520"/>
            <a:ext cx="658368" cy="658368"/>
          </a:xfrm>
          <a:prstGeom prst="ellipse">
            <a:avLst/>
          </a:prstGeom>
          <a:solidFill>
            <a:srgbClr val="059669"/>
          </a:solidFill>
          <a:ln/>
          <a:effectLst>
            <a:outerShdw blurRad="101600" dist="25400" dir="5400000" algn="bl" rotWithShape="0">
              <a:srgbClr val="059669">
                <a:alpha val="35000"/>
              </a:srgbClr>
            </a:outerShdw>
          </a:effectLst>
        </p:spPr>
      </p:sp>
      <p:pic>
        <p:nvPicPr>
          <p:cNvPr id="36" name="Image 5" descr="C:\Users\yasha\AppData\Local\Temp\claude\C--xampp-htdocs-ifqm\eb621171-b1eb-4bc6-8541-20fe7c7fc083\scratchpad\ifqm-ppt\assets\envelop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5896" y="4318528"/>
            <a:ext cx="342351" cy="342351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025128" y="41788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FILES</a:t>
            </a:r>
            <a:endParaRPr lang="en-US" sz="1050" dirty="0"/>
          </a:p>
        </p:txBody>
      </p:sp>
      <p:sp>
        <p:nvSpPr>
          <p:cNvPr id="38" name="Text 30"/>
          <p:cNvSpPr/>
          <p:nvPr/>
        </p:nvSpPr>
        <p:spPr>
          <a:xfrm>
            <a:off x="9025128" y="44531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 · Multer</a:t>
            </a:r>
            <a:endParaRPr lang="en-US" sz="1450" dirty="0"/>
          </a:p>
        </p:txBody>
      </p:sp>
      <p:sp>
        <p:nvSpPr>
          <p:cNvPr id="39" name="Text 31"/>
          <p:cNvSpPr/>
          <p:nvPr/>
        </p:nvSpPr>
        <p:spPr>
          <a:xfrm>
            <a:off x="8247888" y="505663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3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queue for notifications; tenant-scoped secure uploads.</a:t>
            </a:r>
            <a:endParaRPr lang="en-US" sz="1130" dirty="0"/>
          </a:p>
        </p:txBody>
      </p:sp>
      <p:sp>
        <p:nvSpPr>
          <p:cNvPr id="40" name="Text 32"/>
          <p:cNvSpPr/>
          <p:nvPr/>
        </p:nvSpPr>
        <p:spPr>
          <a:xfrm>
            <a:off x="658368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JWT sessions · health &amp; readiness probes · configurable rate limits — designed to run behind a load balancer.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COMPARE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IFQM vs the alternatives</a:t>
            </a:r>
            <a:endParaRPr lang="en-US" sz="3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429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38100" marB="381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Suggestion box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8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forms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8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SaaS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8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IFQM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capture + live AI scoring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38100" marB="381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4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approval chain &amp; escalation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38100" marB="381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4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4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Committee voting with threshold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38100" marB="381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4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4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Gamification — points &amp; leaderboard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38100" marB="381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4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4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 &amp; implementation tracking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38100" marB="381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4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4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Multi-tenant isolation + privacy contract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38100" marB="381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4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4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Indian-language UI, live toggle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38100" marB="381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4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4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per-seat cost · self-hostable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38100" marB="381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4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58368" y="63550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  ~ partial / add-on   ✕ not available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IFQM is better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1554480"/>
            <a:ext cx="340156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0976" y="1828800"/>
            <a:ext cx="685800" cy="685800"/>
          </a:xfrm>
          <a:prstGeom prst="ellipse">
            <a:avLst/>
          </a:prstGeom>
          <a:solidFill>
            <a:srgbClr val="6D28D9"/>
          </a:solidFill>
          <a:ln/>
          <a:effectLst>
            <a:outerShdw blurRad="101600" dist="25400" dir="5400000" algn="bl" rotWithShape="0">
              <a:srgbClr val="6D28D9">
                <a:alpha val="35000"/>
              </a:srgbClr>
            </a:outerShdw>
          </a:effectLst>
        </p:spPr>
      </p:sp>
      <p:pic>
        <p:nvPicPr>
          <p:cNvPr id="6" name="Image 0" descr="C:\Users\yasha\AppData\Local\Temp\claude\C--xampp-htdocs-ifqm\eb621171-b1eb-4bc6-8541-20fe7c7fc083\scratchpad\ifqm-ppt\assets\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199339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2606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End-to-end, not a form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50976" y="2971800"/>
            <a:ext cx="2880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 carries an idea from capture to measured ROI — no stitching tools together.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06824" y="1554480"/>
            <a:ext cx="340156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9432" y="1828800"/>
            <a:ext cx="685800" cy="685800"/>
          </a:xfrm>
          <a:prstGeom prst="ellipse">
            <a:avLst/>
          </a:prstGeom>
          <a:solidFill>
            <a:srgbClr val="DB2777"/>
          </a:solidFill>
          <a:ln/>
          <a:effectLst>
            <a:outerShdw blurRad="101600" dist="25400" dir="5400000" algn="bl" rotWithShape="0">
              <a:srgbClr val="DB2777">
                <a:alpha val="35000"/>
              </a:srgbClr>
            </a:outerShdw>
          </a:effectLst>
        </p:spPr>
      </p:sp>
      <p:pic>
        <p:nvPicPr>
          <p:cNvPr id="11" name="Image 1" descr="C:\Users\yasha\AppData\Local\Temp\claude\C--xampp-htdocs-ifqm\eb621171-b1eb-4bc6-8541-20fe7c7fc083\scratchpad\ifqm-ppt\assets\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024" y="199339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9432" y="2606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needs no budget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99432" y="2971800"/>
            <a:ext cx="2880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scoring works out of the box with a heuristic engine; plug in Gemini only if you want.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955280" y="1554480"/>
            <a:ext cx="340156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47888" y="1828800"/>
            <a:ext cx="685800" cy="685800"/>
          </a:xfrm>
          <a:prstGeom prst="ellipse">
            <a:avLst/>
          </a:prstGeom>
          <a:solidFill>
            <a:srgbClr val="0D9488"/>
          </a:solidFill>
          <a:ln/>
          <a:effectLst>
            <a:outerShdw blurRad="101600" dist="25400" dir="5400000" algn="bl" rotWithShape="0">
              <a:srgbClr val="0D9488">
                <a:alpha val="35000"/>
              </a:srgbClr>
            </a:outerShdw>
          </a:effectLst>
        </p:spPr>
      </p:sp>
      <p:pic>
        <p:nvPicPr>
          <p:cNvPr id="16" name="Image 2" descr="C:\Users\yasha\AppData\Local\Temp\claude\C--xampp-htdocs-ifqm\eb621171-b1eb-4bc6-8541-20fe7c7fc083\scratchpad\ifqm-ppt\assets\site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199339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47888" y="2606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your real org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47888" y="2971800"/>
            <a:ext cx="2880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approval chain mirrors your actual hierarchy and is fully configurable per organisation.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58368" y="3886200"/>
            <a:ext cx="340156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50976" y="4160520"/>
            <a:ext cx="685800" cy="685800"/>
          </a:xfrm>
          <a:prstGeom prst="ellipse">
            <a:avLst/>
          </a:prstGeom>
          <a:solidFill>
            <a:srgbClr val="EA580C"/>
          </a:solidFill>
          <a:ln/>
          <a:effectLst>
            <a:outerShdw blurRad="101600" dist="25400" dir="5400000" algn="bl" rotWithShape="0">
              <a:srgbClr val="EA580C">
                <a:alpha val="35000"/>
              </a:srgbClr>
            </a:outerShdw>
          </a:effectLst>
        </p:spPr>
      </p:sp>
      <p:pic>
        <p:nvPicPr>
          <p:cNvPr id="21" name="Image 3" descr="C:\Users\yasha\AppData\Local\Temp\claude\C--xampp-htdocs-ifqm\eb621171-b1eb-4bc6-8541-20fe7c7fc083\scratchpad\ifqm-ppt\assets\langu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5568" y="4325112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50976" y="49377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Indian teams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50976" y="5303520"/>
            <a:ext cx="2880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regional languages so every employee contributes in the language they think in.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06824" y="3886200"/>
            <a:ext cx="340156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9432" y="4160520"/>
            <a:ext cx="685800" cy="685800"/>
          </a:xfrm>
          <a:prstGeom prst="ellipse">
            <a:avLst/>
          </a:prstGeom>
          <a:solidFill>
            <a:srgbClr val="059669"/>
          </a:solidFill>
          <a:ln/>
          <a:effectLst>
            <a:outerShdw blurRad="101600" dist="25400" dir="5400000" algn="bl" rotWithShape="0">
              <a:srgbClr val="059669">
                <a:alpha val="35000"/>
              </a:srgbClr>
            </a:outerShdw>
          </a:effectLst>
        </p:spPr>
      </p:sp>
      <p:pic>
        <p:nvPicPr>
          <p:cNvPr id="26" name="Image 4" descr="C:\Users\yasha\AppData\Local\Temp\claude\C--xampp-htdocs-ifqm\eb621171-b1eb-4bc6-8541-20fe7c7fc083\scratchpad\ifqm-ppt\assets\fingerpri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4024" y="4325112"/>
            <a:ext cx="356616" cy="35661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99432" y="49377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you can prove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99432" y="5303520"/>
            <a:ext cx="2880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tenant isolation and an aggregate-only platform view keep each org’s ideas confidential.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7955280" y="3886200"/>
            <a:ext cx="340156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47888" y="4160520"/>
            <a:ext cx="685800" cy="68580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25400" dir="5400000" algn="bl" rotWithShape="0">
              <a:srgbClr val="F59E0B">
                <a:alpha val="35000"/>
              </a:srgbClr>
            </a:outerShdw>
          </a:effectLst>
        </p:spPr>
      </p:sp>
      <p:pic>
        <p:nvPicPr>
          <p:cNvPr id="31" name="Image 5" descr="C:\Users\yasha\AppData\Local\Temp\claude\C--xampp-htdocs-ifqm\eb621171-b1eb-4bc6-8541-20fe7c7fc083\scratchpad\ifqm-ppt\assets\coin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2480" y="4325112"/>
            <a:ext cx="356616" cy="35661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47888" y="49377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Yours to own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247888" y="5303520"/>
            <a:ext cx="2880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Self-hostable with no per-seat licensing — scale to thousands without a growing bill.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 &amp; THE PATH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what’s next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58368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521208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965960"/>
            <a:ext cx="128016" cy="1170432"/>
          </a:xfrm>
          <a:prstGeom prst="roundRect">
            <a:avLst>
              <a:gd name="adj" fmla="val 35714"/>
            </a:avLst>
          </a:prstGeom>
          <a:solidFill>
            <a:srgbClr val="6D28D9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11226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ideas surfaced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478024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frictionless wizard + rewards turn silent employees into contributors.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3291840"/>
            <a:ext cx="521208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3291840"/>
            <a:ext cx="128016" cy="1170432"/>
          </a:xfrm>
          <a:prstGeom prst="roundRect">
            <a:avLst>
              <a:gd name="adj" fmla="val 35714"/>
            </a:avLst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43814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fairer decisions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3803904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SLA-timed, auto-routed reviews replace ad-hoc email approvals.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" y="4617720"/>
            <a:ext cx="521208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" y="4617720"/>
            <a:ext cx="128016" cy="1170432"/>
          </a:xfrm>
          <a:prstGeom prst="roundRect">
            <a:avLst>
              <a:gd name="adj" fmla="val 35714"/>
            </a:avLst>
          </a:prstGeom>
          <a:solidFill>
            <a:srgbClr val="DB2777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76402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Provable business value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5129784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E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&amp; implementation tracking connect ideas to real outcomes.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1463040"/>
            <a:ext cx="5257800" cy="4572000"/>
          </a:xfrm>
          <a:prstGeom prst="roundRect">
            <a:avLst>
              <a:gd name="adj" fmla="val 2400"/>
            </a:avLst>
          </a:prstGeom>
          <a:solidFill>
            <a:srgbClr val="1A1330"/>
          </a:solidFill>
          <a:ln/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roadmap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583680" y="2286000"/>
            <a:ext cx="512064" cy="512064"/>
          </a:xfrm>
          <a:prstGeom prst="ellipse">
            <a:avLst/>
          </a:prstGeom>
          <a:solidFill>
            <a:srgbClr val="7C3AED"/>
          </a:solidFill>
          <a:ln/>
          <a:effectLst>
            <a:outerShdw blurRad="101600" dist="25400" dir="5400000" algn="bl" rotWithShape="0">
              <a:srgbClr val="7C3AED">
                <a:alpha val="35000"/>
              </a:srgbClr>
            </a:outerShdw>
          </a:effectLst>
        </p:spPr>
      </p:sp>
      <p:pic>
        <p:nvPicPr>
          <p:cNvPr id="20" name="Image 0" descr="C:\Users\yasha\AppData\Local\Temp\claude\C--xampp-htdocs-ifqm\eb621171-b1eb-4bc6-8541-20fe7c7fc083\scratchpad\ifqm-ppt\assets\handsha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1455" y="2403775"/>
            <a:ext cx="276515" cy="276515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269480" y="226771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OAuth sign-in for enterprise identity</a:t>
            </a:r>
            <a:endParaRPr lang="en-US" sz="1280" dirty="0"/>
          </a:p>
        </p:txBody>
      </p:sp>
      <p:sp>
        <p:nvSpPr>
          <p:cNvPr id="22" name="Shape 19"/>
          <p:cNvSpPr/>
          <p:nvPr/>
        </p:nvSpPr>
        <p:spPr>
          <a:xfrm>
            <a:off x="6583680" y="2999232"/>
            <a:ext cx="512064" cy="512064"/>
          </a:xfrm>
          <a:prstGeom prst="ellipse">
            <a:avLst/>
          </a:prstGeom>
          <a:solidFill>
            <a:srgbClr val="0D9488"/>
          </a:solidFill>
          <a:ln/>
          <a:effectLst>
            <a:outerShdw blurRad="101600" dist="25400" dir="5400000" algn="bl" rotWithShape="0">
              <a:srgbClr val="0D9488">
                <a:alpha val="35000"/>
              </a:srgbClr>
            </a:outerShdw>
          </a:effectLst>
        </p:spPr>
      </p:sp>
      <p:pic>
        <p:nvPicPr>
          <p:cNvPr id="23" name="Image 1" descr="C:\Users\yasha\AppData\Local\Temp\claude\C--xampp-htdocs-ifqm\eb621171-b1eb-4bc6-8541-20fe7c7fc083\scratchpad\ifqm-ppt\assets\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1455" y="3117007"/>
            <a:ext cx="276515" cy="276515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269480" y="2980944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object storage for attachments at scale</a:t>
            </a:r>
            <a:endParaRPr lang="en-US" sz="1280" dirty="0"/>
          </a:p>
        </p:txBody>
      </p:sp>
      <p:sp>
        <p:nvSpPr>
          <p:cNvPr id="25" name="Shape 21"/>
          <p:cNvSpPr/>
          <p:nvPr/>
        </p:nvSpPr>
        <p:spPr>
          <a:xfrm>
            <a:off x="6583680" y="3712464"/>
            <a:ext cx="512064" cy="512064"/>
          </a:xfrm>
          <a:prstGeom prst="ellipse">
            <a:avLst/>
          </a:prstGeom>
          <a:solidFill>
            <a:srgbClr val="DB2777"/>
          </a:solidFill>
          <a:ln/>
          <a:effectLst>
            <a:outerShdw blurRad="101600" dist="25400" dir="5400000" algn="bl" rotWithShape="0">
              <a:srgbClr val="DB2777">
                <a:alpha val="35000"/>
              </a:srgbClr>
            </a:outerShdw>
          </a:effectLst>
        </p:spPr>
      </p:sp>
      <p:pic>
        <p:nvPicPr>
          <p:cNvPr id="26" name="Image 2" descr="C:\Users\yasha\AppData\Local\Temp\claude\C--xampp-htdocs-ifqm\eb621171-b1eb-4bc6-8541-20fe7c7fc083\scratchpad\ifqm-ppt\assets\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1455" y="3830239"/>
            <a:ext cx="276515" cy="27651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269480" y="3694176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analytics &amp; predictive idea insights</a:t>
            </a:r>
            <a:endParaRPr lang="en-US" sz="1280" dirty="0"/>
          </a:p>
        </p:txBody>
      </p:sp>
      <p:sp>
        <p:nvSpPr>
          <p:cNvPr id="28" name="Shape 23"/>
          <p:cNvSpPr/>
          <p:nvPr/>
        </p:nvSpPr>
        <p:spPr>
          <a:xfrm>
            <a:off x="6583680" y="4425696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25400" dir="5400000" algn="bl" rotWithShape="0">
              <a:srgbClr val="F59E0B">
                <a:alpha val="35000"/>
              </a:srgbClr>
            </a:outerShdw>
          </a:effectLst>
        </p:spPr>
      </p:sp>
      <p:pic>
        <p:nvPicPr>
          <p:cNvPr id="29" name="Image 3" descr="C:\Users\yasha\AppData\Local\Temp\claude\C--xampp-htdocs-ifqm\eb621171-b1eb-4bc6-8541-20fe7c7fc083\scratchpad\ifqm-ppt\assets\globe-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1455" y="4543471"/>
            <a:ext cx="276515" cy="27651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269480" y="440740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regional languages on demand</a:t>
            </a:r>
            <a:endParaRPr lang="en-US" sz="1280" dirty="0"/>
          </a:p>
        </p:txBody>
      </p:sp>
      <p:sp>
        <p:nvSpPr>
          <p:cNvPr id="31" name="Shape 25"/>
          <p:cNvSpPr/>
          <p:nvPr/>
        </p:nvSpPr>
        <p:spPr>
          <a:xfrm>
            <a:off x="6583680" y="5138928"/>
            <a:ext cx="512064" cy="512064"/>
          </a:xfrm>
          <a:prstGeom prst="ellipse">
            <a:avLst/>
          </a:prstGeom>
          <a:solidFill>
            <a:srgbClr val="EA580C"/>
          </a:solidFill>
          <a:ln/>
          <a:effectLst>
            <a:outerShdw blurRad="101600" dist="25400" dir="5400000" algn="bl" rotWithShape="0">
              <a:srgbClr val="EA580C">
                <a:alpha val="35000"/>
              </a:srgbClr>
            </a:outerShdw>
          </a:effectLst>
        </p:spPr>
      </p:sp>
      <p:pic>
        <p:nvPicPr>
          <p:cNvPr id="32" name="Image 4" descr="C:\Users\yasha\AppData\Local\Temp\claude\C--xampp-htdocs-ifqm\eb621171-b1eb-4bc6-8541-20fe7c7fc083\scratchpad\ifqm-ppt\assets\bol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1455" y="5256703"/>
            <a:ext cx="276515" cy="276515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269480" y="51206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cache for rate-limit &amp; lockout across nodes</a:t>
            </a:r>
            <a:endParaRPr lang="en-US" sz="12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31520"/>
            <a:ext cx="914400" cy="91440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25400" dir="5400000" algn="bl" rotWithShape="0">
              <a:srgbClr val="F59E0B">
                <a:alpha val="35000"/>
              </a:srgbClr>
            </a:outerShdw>
          </a:effectLst>
        </p:spPr>
      </p:sp>
      <p:pic>
        <p:nvPicPr>
          <p:cNvPr id="3" name="Image 0" descr="C:\Users\yasha\AppData\Local\Temp\claude\C--xampp-htdocs-ifqm\eb621171-b1eb-4bc6-8541-20fe7c7fc083\scratchpad\ifqm-ppt\assets\gradcap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950976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5960" y="93268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kern="0" spc="20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 (DEEMED-TO-BE) UNIVERSITY  ·  MCA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822960" y="17373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41248" y="24871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postgraduate (MCA) student project — designed &amp; built together.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58368" y="3154680"/>
            <a:ext cx="3383280" cy="2697480"/>
          </a:xfrm>
          <a:prstGeom prst="roundRect">
            <a:avLst>
              <a:gd name="adj" fmla="val 4746"/>
            </a:avLst>
          </a:prstGeom>
          <a:solidFill>
            <a:srgbClr val="FFFFFF">
              <a:alpha val="9000"/>
            </a:srgbClr>
          </a:solidFill>
          <a:ln w="19050">
            <a:solidFill>
              <a:srgbClr val="7C3AED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783080" y="3429000"/>
            <a:ext cx="1133856" cy="1133856"/>
          </a:xfrm>
          <a:prstGeom prst="ellipse">
            <a:avLst/>
          </a:prstGeom>
          <a:solidFill>
            <a:srgbClr val="7C3AED"/>
          </a:solidFill>
          <a:ln/>
          <a:effectLst>
            <a:outerShdw blurRad="114300" dist="25400" dir="5400000" algn="bl" rotWithShape="0">
              <a:srgbClr val="7C3AED">
                <a:alpha val="4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783080" y="3429000"/>
            <a:ext cx="1133856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841248" y="4709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Yashas R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1389888" y="521208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7C3AED">
              <a:alpha val="2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89888" y="52120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25MCAR0042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315968" y="3154680"/>
            <a:ext cx="3383280" cy="2697480"/>
          </a:xfrm>
          <a:prstGeom prst="roundRect">
            <a:avLst>
              <a:gd name="adj" fmla="val 4746"/>
            </a:avLst>
          </a:prstGeom>
          <a:solidFill>
            <a:srgbClr val="FFFFFF">
              <a:alpha val="9000"/>
            </a:srgbClr>
          </a:solidFill>
          <a:ln w="19050">
            <a:solidFill>
              <a:srgbClr val="0D9488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40680" y="3429000"/>
            <a:ext cx="1133856" cy="1133856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25400" dir="5400000" algn="bl" rotWithShape="0">
              <a:srgbClr val="0D9488">
                <a:alpha val="4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440680" y="3429000"/>
            <a:ext cx="1133856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4498848" y="4709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Adrish Chowdhury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5047488" y="521208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0D9488">
              <a:alpha val="2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47488" y="52120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25MCAR0153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973568" y="3154680"/>
            <a:ext cx="3383280" cy="2697480"/>
          </a:xfrm>
          <a:prstGeom prst="roundRect">
            <a:avLst>
              <a:gd name="adj" fmla="val 4746"/>
            </a:avLst>
          </a:prstGeom>
          <a:solidFill>
            <a:srgbClr val="FFFFFF">
              <a:alpha val="9000"/>
            </a:srgbClr>
          </a:solidFill>
          <a:ln w="19050">
            <a:solidFill>
              <a:srgbClr val="DB2777"/>
            </a:solidFill>
            <a:prstDash val="solid"/>
          </a:ln>
          <a:effectLst>
            <a:outerShdw blurRad="114300" dist="38100" dir="5400000" algn="bl" rotWithShape="0">
              <a:srgbClr val="1A133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098280" y="3429000"/>
            <a:ext cx="1133856" cy="1133856"/>
          </a:xfrm>
          <a:prstGeom prst="ellipse">
            <a:avLst/>
          </a:prstGeom>
          <a:solidFill>
            <a:srgbClr val="DB2777"/>
          </a:solidFill>
          <a:ln/>
          <a:effectLst>
            <a:outerShdw blurRad="114300" dist="25400" dir="5400000" algn="bl" rotWithShape="0">
              <a:srgbClr val="DB2777">
                <a:alpha val="4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098280" y="3429000"/>
            <a:ext cx="1133856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</a:t>
            </a:r>
            <a:endParaRPr lang="en-US" sz="3400" dirty="0"/>
          </a:p>
        </p:txBody>
      </p:sp>
      <p:sp>
        <p:nvSpPr>
          <p:cNvPr id="22" name="Text 19"/>
          <p:cNvSpPr/>
          <p:nvPr/>
        </p:nvSpPr>
        <p:spPr>
          <a:xfrm>
            <a:off x="8156448" y="4709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Bhuvan K H</a:t>
            </a:r>
            <a:endParaRPr lang="en-US" sz="1900" dirty="0"/>
          </a:p>
        </p:txBody>
      </p:sp>
      <p:sp>
        <p:nvSpPr>
          <p:cNvPr id="23" name="Shape 20"/>
          <p:cNvSpPr/>
          <p:nvPr/>
        </p:nvSpPr>
        <p:spPr>
          <a:xfrm>
            <a:off x="8705088" y="521208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DB2777">
              <a:alpha val="22000"/>
            </a:srgbClr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705088" y="52120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25MCAR0075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IFQM — Employee Ideation Platform  ·  Thank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1626</Words>
  <Application>Microsoft Office PowerPoint</Application>
  <PresentationFormat>Widescreen</PresentationFormat>
  <Paragraphs>308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yashas gowda</cp:lastModifiedBy>
  <cp:revision>2</cp:revision>
  <dcterms:created xsi:type="dcterms:W3CDTF">2026-07-27T13:53:35Z</dcterms:created>
  <dcterms:modified xsi:type="dcterms:W3CDTF">2026-07-27T13:54:46Z</dcterms:modified>
</cp:coreProperties>
</file>